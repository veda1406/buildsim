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8"/>
  </p:notesMasterIdLst>
  <p:handoutMasterIdLst>
    <p:handoutMasterId r:id="rId19"/>
  </p:handoutMasterIdLst>
  <p:sldIdLst>
    <p:sldId id="256" r:id="rId2"/>
    <p:sldId id="412" r:id="rId3"/>
    <p:sldId id="258" r:id="rId4"/>
    <p:sldId id="413" r:id="rId5"/>
    <p:sldId id="414" r:id="rId6"/>
    <p:sldId id="415" r:id="rId7"/>
    <p:sldId id="416" r:id="rId8"/>
    <p:sldId id="417" r:id="rId9"/>
    <p:sldId id="424" r:id="rId10"/>
    <p:sldId id="418" r:id="rId11"/>
    <p:sldId id="420" r:id="rId12"/>
    <p:sldId id="425" r:id="rId13"/>
    <p:sldId id="423" r:id="rId14"/>
    <p:sldId id="426" r:id="rId15"/>
    <p:sldId id="421" r:id="rId16"/>
    <p:sldId id="422" r:id="rId17"/>
  </p:sldIdLst>
  <p:sldSz cx="9144000" cy="6858000" type="screen4x3"/>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6B03FE-AF99-45E0-B7A9-DBA090A5F1CF}" v="20" dt="2026-05-23T01:50:45.530"/>
  </p1510:revLst>
</p1510:revInfo>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10" autoAdjust="0"/>
    <p:restoredTop sz="62051" autoAdjust="0"/>
  </p:normalViewPr>
  <p:slideViewPr>
    <p:cSldViewPr>
      <p:cViewPr varScale="1">
        <p:scale>
          <a:sx n="79" d="100"/>
          <a:sy n="79" d="100"/>
        </p:scale>
        <p:origin x="1541" y="72"/>
      </p:cViewPr>
      <p:guideLst>
        <p:guide orient="horz" pos="2160"/>
        <p:guide pos="2880"/>
      </p:guideLst>
    </p:cSldViewPr>
  </p:slideViewPr>
  <p:outlineViewPr>
    <p:cViewPr>
      <p:scale>
        <a:sx n="33" d="100"/>
        <a:sy n="33" d="100"/>
      </p:scale>
      <p:origin x="0" y="4146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42814"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8698" y="0"/>
            <a:ext cx="3042814" cy="465138"/>
          </a:xfrm>
          <a:prstGeom prst="rect">
            <a:avLst/>
          </a:prstGeom>
        </p:spPr>
        <p:txBody>
          <a:bodyPr vert="horz" lIns="91440" tIns="45720" rIns="91440" bIns="45720" rtlCol="0"/>
          <a:lstStyle>
            <a:lvl1pPr algn="r">
              <a:defRPr sz="1200"/>
            </a:lvl1pPr>
          </a:lstStyle>
          <a:p>
            <a:fld id="{4F73D9D1-0066-4886-9027-8B0E5C064050}" type="datetimeFigureOut">
              <a:rPr lang="en-US" smtClean="0"/>
              <a:pPr/>
              <a:t>5/23/2026</a:t>
            </a:fld>
            <a:endParaRPr lang="en-US"/>
          </a:p>
        </p:txBody>
      </p:sp>
      <p:sp>
        <p:nvSpPr>
          <p:cNvPr id="4" name="Footer Placeholder 3"/>
          <p:cNvSpPr>
            <a:spLocks noGrp="1"/>
          </p:cNvSpPr>
          <p:nvPr>
            <p:ph type="ftr" sz="quarter" idx="2"/>
          </p:nvPr>
        </p:nvSpPr>
        <p:spPr>
          <a:xfrm>
            <a:off x="1" y="8842375"/>
            <a:ext cx="3042814"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8698" y="8842375"/>
            <a:ext cx="3042814" cy="465138"/>
          </a:xfrm>
          <a:prstGeom prst="rect">
            <a:avLst/>
          </a:prstGeom>
        </p:spPr>
        <p:txBody>
          <a:bodyPr vert="horz" lIns="91440" tIns="45720" rIns="91440" bIns="45720" rtlCol="0" anchor="b"/>
          <a:lstStyle>
            <a:lvl1pPr algn="r">
              <a:defRPr sz="1200"/>
            </a:lvl1pPr>
          </a:lstStyle>
          <a:p>
            <a:fld id="{4FBE8407-4A72-4767-B723-7270EC4F9619}"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43344" cy="465455"/>
          </a:xfrm>
          <a:prstGeom prst="rect">
            <a:avLst/>
          </a:prstGeom>
        </p:spPr>
        <p:txBody>
          <a:bodyPr vert="horz" lIns="93287" tIns="46644" rIns="93287" bIns="46644" rtlCol="0"/>
          <a:lstStyle>
            <a:lvl1pPr algn="l">
              <a:defRPr sz="1200"/>
            </a:lvl1pPr>
          </a:lstStyle>
          <a:p>
            <a:endParaRPr lang="en-US"/>
          </a:p>
        </p:txBody>
      </p:sp>
      <p:sp>
        <p:nvSpPr>
          <p:cNvPr id="3" name="Date Placeholder 2"/>
          <p:cNvSpPr>
            <a:spLocks noGrp="1"/>
          </p:cNvSpPr>
          <p:nvPr>
            <p:ph type="dt" idx="1"/>
          </p:nvPr>
        </p:nvSpPr>
        <p:spPr>
          <a:xfrm>
            <a:off x="3978131" y="1"/>
            <a:ext cx="3043344" cy="465455"/>
          </a:xfrm>
          <a:prstGeom prst="rect">
            <a:avLst/>
          </a:prstGeom>
        </p:spPr>
        <p:txBody>
          <a:bodyPr vert="horz" lIns="93287" tIns="46644" rIns="93287" bIns="46644" rtlCol="0"/>
          <a:lstStyle>
            <a:lvl1pPr algn="r">
              <a:defRPr sz="1200"/>
            </a:lvl1pPr>
          </a:lstStyle>
          <a:p>
            <a:fld id="{36E8388B-CD80-43AC-BC5B-950340899C2B}" type="datetimeFigureOut">
              <a:rPr lang="en-US" smtClean="0"/>
              <a:pPr/>
              <a:t>5/23/2026</a:t>
            </a:fld>
            <a:endParaRPr lang="en-US"/>
          </a:p>
        </p:txBody>
      </p:sp>
      <p:sp>
        <p:nvSpPr>
          <p:cNvPr id="4" name="Slide Image Placeholder 3"/>
          <p:cNvSpPr>
            <a:spLocks noGrp="1" noRot="1" noChangeAspect="1"/>
          </p:cNvSpPr>
          <p:nvPr>
            <p:ph type="sldImg" idx="2"/>
          </p:nvPr>
        </p:nvSpPr>
        <p:spPr>
          <a:xfrm>
            <a:off x="1184275" y="698500"/>
            <a:ext cx="4654550" cy="3490913"/>
          </a:xfrm>
          <a:prstGeom prst="rect">
            <a:avLst/>
          </a:prstGeom>
          <a:noFill/>
          <a:ln w="12700">
            <a:solidFill>
              <a:prstClr val="black"/>
            </a:solidFill>
          </a:ln>
        </p:spPr>
        <p:txBody>
          <a:bodyPr vert="horz" lIns="93287" tIns="46644" rIns="93287" bIns="46644" rtlCol="0" anchor="ctr"/>
          <a:lstStyle/>
          <a:p>
            <a:endParaRPr lang="en-US"/>
          </a:p>
        </p:txBody>
      </p:sp>
      <p:sp>
        <p:nvSpPr>
          <p:cNvPr id="5" name="Notes Placeholder 4"/>
          <p:cNvSpPr>
            <a:spLocks noGrp="1"/>
          </p:cNvSpPr>
          <p:nvPr>
            <p:ph type="body" sz="quarter" idx="3"/>
          </p:nvPr>
        </p:nvSpPr>
        <p:spPr>
          <a:xfrm>
            <a:off x="702310" y="4421824"/>
            <a:ext cx="5618480" cy="4189095"/>
          </a:xfrm>
          <a:prstGeom prst="rect">
            <a:avLst/>
          </a:prstGeom>
        </p:spPr>
        <p:txBody>
          <a:bodyPr vert="horz" lIns="93287" tIns="46644" rIns="93287" bIns="46644"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30"/>
            <a:ext cx="3043344" cy="465455"/>
          </a:xfrm>
          <a:prstGeom prst="rect">
            <a:avLst/>
          </a:prstGeom>
        </p:spPr>
        <p:txBody>
          <a:bodyPr vert="horz" lIns="93287" tIns="46644" rIns="93287" bIns="46644" rtlCol="0" anchor="b"/>
          <a:lstStyle>
            <a:lvl1pPr algn="l">
              <a:defRPr sz="1200"/>
            </a:lvl1pPr>
          </a:lstStyle>
          <a:p>
            <a:endParaRPr lang="en-US"/>
          </a:p>
        </p:txBody>
      </p:sp>
      <p:sp>
        <p:nvSpPr>
          <p:cNvPr id="7" name="Slide Number Placeholder 6"/>
          <p:cNvSpPr>
            <a:spLocks noGrp="1"/>
          </p:cNvSpPr>
          <p:nvPr>
            <p:ph type="sldNum" sz="quarter" idx="5"/>
          </p:nvPr>
        </p:nvSpPr>
        <p:spPr>
          <a:xfrm>
            <a:off x="3978131" y="8842030"/>
            <a:ext cx="3043344" cy="465455"/>
          </a:xfrm>
          <a:prstGeom prst="rect">
            <a:avLst/>
          </a:prstGeom>
        </p:spPr>
        <p:txBody>
          <a:bodyPr vert="horz" lIns="93287" tIns="46644" rIns="93287" bIns="46644" rtlCol="0" anchor="b"/>
          <a:lstStyle>
            <a:lvl1pPr algn="r">
              <a:defRPr sz="1200"/>
            </a:lvl1pPr>
          </a:lstStyle>
          <a:p>
            <a:fld id="{C9552691-8528-4F2F-80E3-E203B933B374}" type="slidenum">
              <a:rPr lang="en-US" smtClean="0"/>
              <a:pPr/>
              <a:t>‹#›</a:t>
            </a:fld>
            <a:endParaRPr lang="en-US"/>
          </a:p>
        </p:txBody>
      </p:sp>
    </p:spTree>
    <p:extLst>
      <p:ext uri="{BB962C8B-B14F-4D97-AF65-F5344CB8AC3E}">
        <p14:creationId xmlns:p14="http://schemas.microsoft.com/office/powerpoint/2010/main" val="524129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DF1B10-5FB9-4ED3-9C3E-AE0A2470D569}" type="datetime1">
              <a:rPr lang="en-US" smtClean="0"/>
              <a:t>5/23/2026</a:t>
            </a:fld>
            <a:endParaRPr lang="en-US"/>
          </a:p>
        </p:txBody>
      </p:sp>
      <p:sp>
        <p:nvSpPr>
          <p:cNvPr id="5" name="Footer Placeholder 4"/>
          <p:cNvSpPr>
            <a:spLocks noGrp="1"/>
          </p:cNvSpPr>
          <p:nvPr>
            <p:ph type="ftr" sz="quarter" idx="11"/>
          </p:nvPr>
        </p:nvSpPr>
        <p:spPr/>
        <p:txBody>
          <a:bodyPr/>
          <a:lstStyle/>
          <a:p>
            <a:r>
              <a:rPr lang="en-US"/>
              <a:t>Vishwakarma Institute of Technology, Department of Computer Science of Engineering( Artificial Intelligence)</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2883812-2A2A-4884-BF25-0F38E059FEEA}" type="datetime1">
              <a:rPr lang="en-US" smtClean="0"/>
              <a:t>5/23/2026</a:t>
            </a:fld>
            <a:endParaRPr lang="en-US"/>
          </a:p>
        </p:txBody>
      </p:sp>
      <p:sp>
        <p:nvSpPr>
          <p:cNvPr id="5" name="Footer Placeholder 4"/>
          <p:cNvSpPr>
            <a:spLocks noGrp="1"/>
          </p:cNvSpPr>
          <p:nvPr>
            <p:ph type="ftr" sz="quarter" idx="11"/>
          </p:nvPr>
        </p:nvSpPr>
        <p:spPr/>
        <p:txBody>
          <a:bodyPr/>
          <a:lstStyle/>
          <a:p>
            <a:r>
              <a:rPr lang="en-US"/>
              <a:t>Vishwakarma Institute of Technology, Department of Computer Science of Engineering( Artificial Intelligence)</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DB70385-12A6-43B1-ADED-3B5AC1A2DE82}" type="datetime1">
              <a:rPr lang="en-US" smtClean="0"/>
              <a:t>5/23/2026</a:t>
            </a:fld>
            <a:endParaRPr lang="en-US"/>
          </a:p>
        </p:txBody>
      </p:sp>
      <p:sp>
        <p:nvSpPr>
          <p:cNvPr id="5" name="Footer Placeholder 4"/>
          <p:cNvSpPr>
            <a:spLocks noGrp="1"/>
          </p:cNvSpPr>
          <p:nvPr>
            <p:ph type="ftr" sz="quarter" idx="11"/>
          </p:nvPr>
        </p:nvSpPr>
        <p:spPr/>
        <p:txBody>
          <a:bodyPr/>
          <a:lstStyle/>
          <a:p>
            <a:r>
              <a:rPr lang="en-US"/>
              <a:t>Vishwakarma Institute of Technology, Department of Computer Science of Engineering( Artificial Intelligence)</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AB85DFA-4E79-43F8-859A-19F21FCB244B}" type="datetime1">
              <a:rPr lang="en-US" smtClean="0"/>
              <a:t>5/23/2026</a:t>
            </a:fld>
            <a:endParaRPr lang="en-US"/>
          </a:p>
        </p:txBody>
      </p:sp>
      <p:sp>
        <p:nvSpPr>
          <p:cNvPr id="6" name="Footer Placeholder 5"/>
          <p:cNvSpPr>
            <a:spLocks noGrp="1"/>
          </p:cNvSpPr>
          <p:nvPr>
            <p:ph type="ftr" sz="quarter" idx="11"/>
          </p:nvPr>
        </p:nvSpPr>
        <p:spPr/>
        <p:txBody>
          <a:bodyPr/>
          <a:lstStyle/>
          <a:p>
            <a:r>
              <a:rPr lang="en-US"/>
              <a:t>Vishwakarma Institute of Technology, Department of Computer Science of Engineering( Artificial Intelligence)</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07B4DDF-E61C-4CB3-BEB3-1B93F1E4E9A0}" type="datetime1">
              <a:rPr lang="en-US" smtClean="0"/>
              <a:t>5/23/2026</a:t>
            </a:fld>
            <a:endParaRPr lang="en-US"/>
          </a:p>
        </p:txBody>
      </p:sp>
      <p:sp>
        <p:nvSpPr>
          <p:cNvPr id="8" name="Footer Placeholder 7"/>
          <p:cNvSpPr>
            <a:spLocks noGrp="1"/>
          </p:cNvSpPr>
          <p:nvPr>
            <p:ph type="ftr" sz="quarter" idx="11"/>
          </p:nvPr>
        </p:nvSpPr>
        <p:spPr/>
        <p:txBody>
          <a:bodyPr/>
          <a:lstStyle/>
          <a:p>
            <a:r>
              <a:rPr lang="en-US"/>
              <a:t>Vishwakarma Institute of Technology, Department of Computer Science of Engineering( Artificial Intelligence)</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B66509B-F1EC-40B4-8C31-5CC95BD4C722}" type="datetime1">
              <a:rPr lang="en-US" smtClean="0"/>
              <a:t>5/23/2026</a:t>
            </a:fld>
            <a:endParaRPr lang="en-US"/>
          </a:p>
        </p:txBody>
      </p:sp>
      <p:sp>
        <p:nvSpPr>
          <p:cNvPr id="4" name="Footer Placeholder 3"/>
          <p:cNvSpPr>
            <a:spLocks noGrp="1"/>
          </p:cNvSpPr>
          <p:nvPr>
            <p:ph type="ftr" sz="quarter" idx="11"/>
          </p:nvPr>
        </p:nvSpPr>
        <p:spPr/>
        <p:txBody>
          <a:bodyPr/>
          <a:lstStyle/>
          <a:p>
            <a:r>
              <a:rPr lang="en-US"/>
              <a:t>Vishwakarma Institute of Technology, Department of Computer Science of Engineering( Artificial Intelligence)</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A23857F-5624-4F76-AF1A-C99EDFD83DBA}" type="datetime1">
              <a:rPr lang="en-US" smtClean="0"/>
              <a:t>5/23/2026</a:t>
            </a:fld>
            <a:endParaRPr lang="en-US"/>
          </a:p>
        </p:txBody>
      </p:sp>
      <p:sp>
        <p:nvSpPr>
          <p:cNvPr id="3" name="Footer Placeholder 2"/>
          <p:cNvSpPr>
            <a:spLocks noGrp="1"/>
          </p:cNvSpPr>
          <p:nvPr>
            <p:ph type="ftr" sz="quarter" idx="11"/>
          </p:nvPr>
        </p:nvSpPr>
        <p:spPr/>
        <p:txBody>
          <a:bodyPr/>
          <a:lstStyle/>
          <a:p>
            <a:r>
              <a:rPr lang="en-US"/>
              <a:t>Vishwakarma Institute of Technology, Department of Computer Science of Engineering( Artificial Intelligence)</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D2BB62A-B60F-4BD3-85BB-D62487129D2F}" type="datetime1">
              <a:rPr lang="en-US" smtClean="0"/>
              <a:t>5/23/2026</a:t>
            </a:fld>
            <a:endParaRPr lang="en-US"/>
          </a:p>
        </p:txBody>
      </p:sp>
      <p:sp>
        <p:nvSpPr>
          <p:cNvPr id="6" name="Footer Placeholder 5"/>
          <p:cNvSpPr>
            <a:spLocks noGrp="1"/>
          </p:cNvSpPr>
          <p:nvPr>
            <p:ph type="ftr" sz="quarter" idx="11"/>
          </p:nvPr>
        </p:nvSpPr>
        <p:spPr/>
        <p:txBody>
          <a:bodyPr/>
          <a:lstStyle/>
          <a:p>
            <a:r>
              <a:rPr lang="en-US"/>
              <a:t>Vishwakarma Institute of Technology, Department of Computer Science of Engineering( Artificial Intelligence)</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25DD1D2-D5C0-4391-9C83-D51C929142DE}" type="datetime1">
              <a:rPr lang="en-US" smtClean="0"/>
              <a:t>5/23/2026</a:t>
            </a:fld>
            <a:endParaRPr lang="en-US"/>
          </a:p>
        </p:txBody>
      </p:sp>
      <p:sp>
        <p:nvSpPr>
          <p:cNvPr id="6" name="Footer Placeholder 5"/>
          <p:cNvSpPr>
            <a:spLocks noGrp="1"/>
          </p:cNvSpPr>
          <p:nvPr>
            <p:ph type="ftr" sz="quarter" idx="11"/>
          </p:nvPr>
        </p:nvSpPr>
        <p:spPr/>
        <p:txBody>
          <a:bodyPr/>
          <a:lstStyle/>
          <a:p>
            <a:r>
              <a:rPr lang="en-US"/>
              <a:t>Vishwakarma Institute of Technology, Department of Computer Science of Engineering( Artificial Intelligence)</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F448B15-EF18-41EF-A9AF-1F99A5874D50}" type="datetime1">
              <a:rPr lang="en-US" smtClean="0"/>
              <a:t>5/23/2026</a:t>
            </a:fld>
            <a:endParaRPr lang="en-US"/>
          </a:p>
        </p:txBody>
      </p:sp>
      <p:sp>
        <p:nvSpPr>
          <p:cNvPr id="5" name="Footer Placeholder 4"/>
          <p:cNvSpPr>
            <a:spLocks noGrp="1"/>
          </p:cNvSpPr>
          <p:nvPr>
            <p:ph type="ftr" sz="quarter" idx="11"/>
          </p:nvPr>
        </p:nvSpPr>
        <p:spPr/>
        <p:txBody>
          <a:bodyPr/>
          <a:lstStyle/>
          <a:p>
            <a:r>
              <a:rPr lang="en-US"/>
              <a:t>Vishwakarma Institute of Technology, Department of Computer Science of Engineering( Artificial Intelligence)</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066DB8-C629-4B7B-B447-A701C492BF49}" type="datetime1">
              <a:rPr lang="en-US" smtClean="0"/>
              <a:t>5/23/2026</a:t>
            </a:fld>
            <a:endParaRPr lang="en-US"/>
          </a:p>
        </p:txBody>
      </p:sp>
      <p:sp>
        <p:nvSpPr>
          <p:cNvPr id="5" name="Footer Placeholder 4"/>
          <p:cNvSpPr>
            <a:spLocks noGrp="1"/>
          </p:cNvSpPr>
          <p:nvPr>
            <p:ph type="ftr" sz="quarter" idx="11"/>
          </p:nvPr>
        </p:nvSpPr>
        <p:spPr/>
        <p:txBody>
          <a:bodyPr/>
          <a:lstStyle/>
          <a:p>
            <a:r>
              <a:rPr lang="en-US"/>
              <a:t>Vishwakarma Institute of Technology, Department of Computer Science of Engineering( Artificial Intelligence)</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lum/>
          </a:blip>
          <a:srcRect/>
          <a:stretch>
            <a:fillRect l="-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4A74B3F-EC1E-446D-A9EE-ADE130FFD4D9}" type="datetime1">
              <a:rPr lang="en-US" smtClean="0"/>
              <a:t>5/23/2026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Vishwakarma Institute of Technology, Department of Computer Science of Engineering( Artificial Intelligence)</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85800" y="632298"/>
            <a:ext cx="8458200" cy="6225702"/>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0312" r="-20312"/>
            </a:stretch>
          </a:blipFill>
        </p:spPr>
      </p:sp>
      <p:sp>
        <p:nvSpPr>
          <p:cNvPr id="6" name="TextBox 6"/>
          <p:cNvSpPr txBox="1"/>
          <p:nvPr/>
        </p:nvSpPr>
        <p:spPr>
          <a:xfrm>
            <a:off x="1676400" y="3192811"/>
            <a:ext cx="7086600" cy="892552"/>
          </a:xfrm>
          <a:prstGeom prst="rect">
            <a:avLst/>
          </a:prstGeom>
        </p:spPr>
        <p:txBody>
          <a:bodyPr wrap="square" lIns="0" tIns="0" rIns="0" bIns="0" rtlCol="0" anchor="t">
            <a:spAutoFit/>
          </a:bodyPr>
          <a:lstStyle/>
          <a:p>
            <a:pPr indent="152400"/>
            <a:r>
              <a:rPr lang="en-US" sz="2900" dirty="0">
                <a:solidFill>
                  <a:schemeClr val="tx2">
                    <a:lumMod val="75000"/>
                  </a:schemeClr>
                </a:solidFill>
                <a:latin typeface="Book Antiqua" panose="02040602050305030304" pitchFamily="18" charset="0"/>
                <a:ea typeface="League Spartan"/>
                <a:cs typeface="Times New Roman" panose="02020603050405020304" pitchFamily="18" charset="0"/>
                <a:sym typeface="League Spartan"/>
              </a:rPr>
              <a:t>Title: </a:t>
            </a:r>
            <a:r>
              <a:rPr lang="en-US" sz="2900" dirty="0" err="1">
                <a:solidFill>
                  <a:schemeClr val="tx2">
                    <a:lumMod val="75000"/>
                  </a:schemeClr>
                </a:solidFill>
                <a:latin typeface="Book Antiqua" panose="02040602050305030304" pitchFamily="18" charset="0"/>
                <a:ea typeface="League Spartan"/>
                <a:cs typeface="Times New Roman" panose="02020603050405020304" pitchFamily="18" charset="0"/>
                <a:sym typeface="League Spartan"/>
              </a:rPr>
              <a:t>BuildSim</a:t>
            </a:r>
            <a:r>
              <a:rPr lang="en-US" sz="2900" dirty="0">
                <a:solidFill>
                  <a:schemeClr val="tx2">
                    <a:lumMod val="75000"/>
                  </a:schemeClr>
                </a:solidFill>
                <a:latin typeface="Book Antiqua" panose="02040602050305030304" pitchFamily="18" charset="0"/>
                <a:ea typeface="League Spartan"/>
                <a:cs typeface="Times New Roman" panose="02020603050405020304" pitchFamily="18" charset="0"/>
                <a:sym typeface="League Spartan"/>
              </a:rPr>
              <a:t> – Virtual Construction Planning and Simulation Platform </a:t>
            </a:r>
            <a:r>
              <a:rPr lang="en-US" sz="2900" dirty="0">
                <a:solidFill>
                  <a:schemeClr val="tx2">
                    <a:lumMod val="75000"/>
                  </a:schemeClr>
                </a:solidFill>
                <a:effectLst/>
                <a:latin typeface="Book Antiqua" panose="02040602050305030304" pitchFamily="18" charset="0"/>
                <a:ea typeface="Times New Roman" panose="02020603050405020304" pitchFamily="18" charset="0"/>
              </a:rPr>
              <a:t>  </a:t>
            </a:r>
            <a:r>
              <a:rPr lang="en-US" sz="2900" dirty="0">
                <a:effectLst/>
                <a:latin typeface="Times New Roman" panose="02020603050405020304" pitchFamily="18" charset="0"/>
                <a:ea typeface="Times New Roman" panose="02020603050405020304" pitchFamily="18" charset="0"/>
              </a:rPr>
              <a:t>    </a:t>
            </a:r>
            <a:r>
              <a:rPr lang="en-US" sz="2900" dirty="0">
                <a:solidFill>
                  <a:srgbClr val="593C8F"/>
                </a:solidFill>
                <a:latin typeface="Times New Roman" panose="02020603050405020304" pitchFamily="18" charset="0"/>
                <a:ea typeface="League Spartan"/>
                <a:cs typeface="Times New Roman" panose="02020603050405020304" pitchFamily="18" charset="0"/>
                <a:sym typeface="League Spartan"/>
              </a:rPr>
              <a:t> </a:t>
            </a:r>
          </a:p>
        </p:txBody>
      </p:sp>
      <p:sp>
        <p:nvSpPr>
          <p:cNvPr id="7" name="AutoShape 7"/>
          <p:cNvSpPr/>
          <p:nvPr/>
        </p:nvSpPr>
        <p:spPr>
          <a:xfrm flipV="1">
            <a:off x="1824181" y="4559547"/>
            <a:ext cx="4843998" cy="10253"/>
          </a:xfrm>
          <a:prstGeom prst="line">
            <a:avLst/>
          </a:prstGeom>
          <a:ln w="38100" cap="flat">
            <a:solidFill>
              <a:srgbClr val="000000"/>
            </a:solidFill>
            <a:prstDash val="solid"/>
            <a:headEnd type="none" w="sm" len="sm"/>
            <a:tailEnd type="none" w="sm" len="sm"/>
          </a:ln>
        </p:spPr>
      </p:sp>
      <p:sp>
        <p:nvSpPr>
          <p:cNvPr id="8" name="Freeform 8"/>
          <p:cNvSpPr/>
          <p:nvPr/>
        </p:nvSpPr>
        <p:spPr>
          <a:xfrm>
            <a:off x="6881579" y="1050925"/>
            <a:ext cx="2080092" cy="2057400"/>
          </a:xfrm>
          <a:custGeom>
            <a:avLst/>
            <a:gdLst/>
            <a:ahLst/>
            <a:cxnLst/>
            <a:rect l="l" t="t" r="r" b="b"/>
            <a:pathLst>
              <a:path w="4160184" h="4114800">
                <a:moveTo>
                  <a:pt x="0" y="0"/>
                </a:moveTo>
                <a:lnTo>
                  <a:pt x="4160184" y="0"/>
                </a:lnTo>
                <a:lnTo>
                  <a:pt x="4160184" y="4114800"/>
                </a:lnTo>
                <a:lnTo>
                  <a:pt x="0" y="4114800"/>
                </a:lnTo>
                <a:lnTo>
                  <a:pt x="0" y="0"/>
                </a:lnTo>
                <a:close/>
              </a:path>
            </a:pathLst>
          </a:custGeom>
          <a:blipFill>
            <a:blip>
              <a:alphaModFix amt="37000"/>
              <a:extLst>
                <a:ext uri="{96DAC541-7B7A-43D3-8B79-37D633B846F1}">
                  <asvg:svgBlip xmlns:asvg="http://schemas.microsoft.com/office/drawing/2016/SVG/main" r:embed="rId3"/>
                </a:ext>
              </a:extLst>
            </a:blip>
            <a:stretch>
              <a:fillRect/>
            </a:stretch>
          </a:blipFill>
        </p:spPr>
      </p:sp>
      <p:sp>
        <p:nvSpPr>
          <p:cNvPr id="10" name="TextBox 10"/>
          <p:cNvSpPr txBox="1"/>
          <p:nvPr/>
        </p:nvSpPr>
        <p:spPr>
          <a:xfrm>
            <a:off x="1219201" y="1022350"/>
            <a:ext cx="5558448" cy="248081"/>
          </a:xfrm>
          <a:prstGeom prst="rect">
            <a:avLst/>
          </a:prstGeom>
        </p:spPr>
        <p:txBody>
          <a:bodyPr wrap="square" lIns="0" tIns="0" rIns="0" bIns="0" rtlCol="0" anchor="t">
            <a:spAutoFit/>
          </a:bodyPr>
          <a:lstStyle/>
          <a:p>
            <a:pPr algn="ctr">
              <a:lnSpc>
                <a:spcPts val="2148"/>
              </a:lnSpc>
            </a:pPr>
            <a:r>
              <a:rPr lang="en-US" sz="1534" dirty="0">
                <a:solidFill>
                  <a:srgbClr val="000000"/>
                </a:solidFill>
                <a:latin typeface="Times New Roman" panose="02020603050405020304" pitchFamily="18" charset="0"/>
                <a:ea typeface="Canva Sans"/>
                <a:cs typeface="Times New Roman" panose="02020603050405020304" pitchFamily="18" charset="0"/>
                <a:sym typeface="Canva Sans"/>
              </a:rPr>
              <a:t>VISHWAKARMA INSTITUTE OF TECHNOLOGY, PUNE</a:t>
            </a:r>
          </a:p>
        </p:txBody>
      </p:sp>
      <p:sp>
        <p:nvSpPr>
          <p:cNvPr id="11" name="TextBox 11"/>
          <p:cNvSpPr txBox="1"/>
          <p:nvPr/>
        </p:nvSpPr>
        <p:spPr>
          <a:xfrm>
            <a:off x="1823380" y="4890652"/>
            <a:ext cx="2960802" cy="524759"/>
          </a:xfrm>
          <a:prstGeom prst="rect">
            <a:avLst/>
          </a:prstGeom>
        </p:spPr>
        <p:txBody>
          <a:bodyPr wrap="square" lIns="0" tIns="0" rIns="0" bIns="0" rtlCol="0" anchor="t">
            <a:spAutoFit/>
          </a:bodyPr>
          <a:lstStyle/>
          <a:p>
            <a:pPr>
              <a:lnSpc>
                <a:spcPts val="2142"/>
              </a:lnSpc>
            </a:pPr>
            <a:r>
              <a:rPr lang="en-US" sz="1530" dirty="0">
                <a:solidFill>
                  <a:srgbClr val="000000"/>
                </a:solidFill>
                <a:latin typeface="Book Antiqua" panose="02040602050305030304" pitchFamily="18" charset="0"/>
                <a:ea typeface="Canva Sans"/>
                <a:cs typeface="Times New Roman" panose="02020603050405020304" pitchFamily="18" charset="0"/>
                <a:sym typeface="Canva Sans"/>
              </a:rPr>
              <a:t>SY - CSAI-E </a:t>
            </a:r>
          </a:p>
          <a:p>
            <a:pPr>
              <a:lnSpc>
                <a:spcPts val="2142"/>
              </a:lnSpc>
            </a:pPr>
            <a:r>
              <a:rPr lang="en-US" sz="1530" dirty="0">
                <a:solidFill>
                  <a:srgbClr val="000000"/>
                </a:solidFill>
                <a:latin typeface="Book Antiqua" panose="02040602050305030304" pitchFamily="18" charset="0"/>
                <a:ea typeface="Canva Sans"/>
                <a:cs typeface="Times New Roman" panose="02020603050405020304" pitchFamily="18" charset="0"/>
                <a:sym typeface="Canva Sans"/>
              </a:rPr>
              <a:t>GROUP NO: 06 </a:t>
            </a:r>
          </a:p>
        </p:txBody>
      </p:sp>
      <p:sp>
        <p:nvSpPr>
          <p:cNvPr id="12" name="TextBox 12"/>
          <p:cNvSpPr txBox="1"/>
          <p:nvPr/>
        </p:nvSpPr>
        <p:spPr>
          <a:xfrm>
            <a:off x="4782229" y="4887445"/>
            <a:ext cx="3771900" cy="265586"/>
          </a:xfrm>
          <a:prstGeom prst="rect">
            <a:avLst/>
          </a:prstGeom>
        </p:spPr>
        <p:txBody>
          <a:bodyPr wrap="square" lIns="0" tIns="0" rIns="0" bIns="0" rtlCol="0" anchor="t">
            <a:spAutoFit/>
          </a:bodyPr>
          <a:lstStyle/>
          <a:p>
            <a:pPr algn="ctr">
              <a:lnSpc>
                <a:spcPts val="2163"/>
              </a:lnSpc>
            </a:pPr>
            <a:r>
              <a:rPr lang="en-US" sz="1545" dirty="0">
                <a:solidFill>
                  <a:srgbClr val="000000"/>
                </a:solidFill>
                <a:latin typeface="Book Antiqua" panose="02040602050305030304" pitchFamily="18" charset="0"/>
                <a:ea typeface="Canva Sans"/>
                <a:cs typeface="Times New Roman" panose="02020603050405020304" pitchFamily="18" charset="0"/>
                <a:sym typeface="Canva Sans"/>
              </a:rPr>
              <a:t>GUIDE NAME: DR. NILESH KORADE</a:t>
            </a:r>
          </a:p>
        </p:txBody>
      </p:sp>
      <p:sp>
        <p:nvSpPr>
          <p:cNvPr id="13" name="TextBox 13"/>
          <p:cNvSpPr txBox="1"/>
          <p:nvPr/>
        </p:nvSpPr>
        <p:spPr>
          <a:xfrm>
            <a:off x="1267197" y="1431010"/>
            <a:ext cx="5558448" cy="441531"/>
          </a:xfrm>
          <a:prstGeom prst="rect">
            <a:avLst/>
          </a:prstGeom>
        </p:spPr>
        <p:txBody>
          <a:bodyPr wrap="square" lIns="0" tIns="0" rIns="0" bIns="0" rtlCol="0" anchor="t">
            <a:spAutoFit/>
          </a:bodyPr>
          <a:lstStyle/>
          <a:p>
            <a:pPr algn="ctr">
              <a:lnSpc>
                <a:spcPts val="1750"/>
              </a:lnSpc>
            </a:pPr>
            <a:r>
              <a:rPr lang="en-US" sz="1250" b="1" dirty="0">
                <a:solidFill>
                  <a:srgbClr val="000000"/>
                </a:solidFill>
                <a:latin typeface="Times New Roman" panose="02020603050405020304" pitchFamily="18" charset="0"/>
                <a:ea typeface="Canva Sans Bold"/>
                <a:cs typeface="Times New Roman" panose="02020603050405020304" pitchFamily="18" charset="0"/>
                <a:sym typeface="Canva Sans Bold"/>
              </a:rPr>
              <a:t>DEPARTMENT OF COMPUTER SCIENCE AND ENGINEERING (ARTIFICIAL INTELLIGENCE)</a:t>
            </a:r>
          </a:p>
        </p:txBody>
      </p:sp>
      <p:sp>
        <p:nvSpPr>
          <p:cNvPr id="14" name="TextBox 14"/>
          <p:cNvSpPr txBox="1"/>
          <p:nvPr/>
        </p:nvSpPr>
        <p:spPr>
          <a:xfrm>
            <a:off x="862696" y="2088901"/>
            <a:ext cx="6766967" cy="295850"/>
          </a:xfrm>
          <a:prstGeom prst="rect">
            <a:avLst/>
          </a:prstGeom>
        </p:spPr>
        <p:txBody>
          <a:bodyPr lIns="0" tIns="0" rIns="0" bIns="0" rtlCol="0" anchor="t">
            <a:spAutoFit/>
          </a:bodyPr>
          <a:lstStyle/>
          <a:p>
            <a:pPr algn="ctr">
              <a:lnSpc>
                <a:spcPts val="2380"/>
              </a:lnSpc>
            </a:pPr>
            <a:r>
              <a:rPr lang="en-US" sz="1700" dirty="0">
                <a:solidFill>
                  <a:srgbClr val="000000"/>
                </a:solidFill>
                <a:latin typeface="Centaur" panose="02030504050205020304" pitchFamily="18" charset="0"/>
                <a:ea typeface="Canva Sans"/>
                <a:cs typeface="Canva Sans"/>
                <a:sym typeface="Canva Sans"/>
              </a:rPr>
              <a:t> A.Y 2025-26  SEM (II)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1219200" y="1295400"/>
            <a:ext cx="3265039" cy="417678"/>
          </a:xfrm>
          <a:prstGeom prst="rect">
            <a:avLst/>
          </a:prstGeom>
        </p:spPr>
        <p:txBody>
          <a:bodyPr lIns="0" tIns="0" rIns="0" bIns="0" rtlCol="0" anchor="t">
            <a:spAutoFit/>
          </a:bodyPr>
          <a:lstStyle/>
          <a:p>
            <a:pPr>
              <a:lnSpc>
                <a:spcPts val="3170"/>
              </a:lnSpc>
              <a:spcBef>
                <a:spcPct val="0"/>
              </a:spcBef>
            </a:pPr>
            <a:r>
              <a:rPr lang="en-US" sz="3200" b="1" dirty="0">
                <a:solidFill>
                  <a:schemeClr val="tx2">
                    <a:lumMod val="75000"/>
                  </a:schemeClr>
                </a:solidFill>
                <a:latin typeface="Book Antiqua" panose="02040602050305030304" pitchFamily="18" charset="0"/>
                <a:cs typeface="Times New Roman" panose="02020603050405020304" pitchFamily="18" charset="0"/>
                <a:sym typeface="Lato Bold"/>
              </a:rPr>
              <a:t>Group Members</a:t>
            </a:r>
          </a:p>
        </p:txBody>
      </p:sp>
      <p:sp>
        <p:nvSpPr>
          <p:cNvPr id="4" name="AutoShape 4"/>
          <p:cNvSpPr/>
          <p:nvPr/>
        </p:nvSpPr>
        <p:spPr>
          <a:xfrm flipH="1">
            <a:off x="514360" y="1950659"/>
            <a:ext cx="0" cy="0"/>
          </a:xfrm>
          <a:prstGeom prst="line">
            <a:avLst/>
          </a:prstGeom>
          <a:ln w="19050" cap="flat">
            <a:solidFill>
              <a:srgbClr val="000000"/>
            </a:solidFill>
            <a:prstDash val="solid"/>
            <a:headEnd type="none" w="sm" len="sm"/>
            <a:tailEnd type="none" w="sm" len="sm"/>
          </a:ln>
        </p:spPr>
      </p:sp>
      <p:sp>
        <p:nvSpPr>
          <p:cNvPr id="10" name="TextBox 10"/>
          <p:cNvSpPr txBox="1"/>
          <p:nvPr/>
        </p:nvSpPr>
        <p:spPr>
          <a:xfrm>
            <a:off x="1226409" y="2133600"/>
            <a:ext cx="6691181" cy="2705100"/>
          </a:xfrm>
          <a:prstGeom prst="rect">
            <a:avLst/>
          </a:prstGeom>
        </p:spPr>
        <p:txBody>
          <a:bodyPr wrap="square" lIns="0" tIns="0" rIns="0" bIns="0" rtlCol="0" anchor="t">
            <a:spAutoFit/>
          </a:bodyPr>
          <a:lstStyle/>
          <a:p>
            <a:pPr>
              <a:lnSpc>
                <a:spcPct val="150000"/>
              </a:lnSpc>
            </a:pPr>
            <a:r>
              <a:rPr lang="en-US" sz="1800" dirty="0">
                <a:effectLst/>
                <a:latin typeface="Times New Roman" panose="02020603050405020304" pitchFamily="18" charset="0"/>
                <a:ea typeface="Times New Roman" panose="02020603050405020304" pitchFamily="18" charset="0"/>
              </a:rPr>
              <a:t>       </a:t>
            </a:r>
            <a:r>
              <a:rPr lang="en-US" sz="2100" dirty="0">
                <a:latin typeface="Centaur" panose="02030504050205020304" pitchFamily="18" charset="0"/>
                <a:cs typeface="Times New Roman" panose="02020603050405020304" pitchFamily="18" charset="0"/>
              </a:rPr>
              <a:t>Name                                  PRN                Roll No.</a:t>
            </a:r>
          </a:p>
          <a:p>
            <a:pPr marL="342900" indent="-342900">
              <a:lnSpc>
                <a:spcPct val="150000"/>
              </a:lnSpc>
              <a:buAutoNum type="arabicParenR"/>
            </a:pPr>
            <a:r>
              <a:rPr lang="en-US" sz="2100" dirty="0">
                <a:latin typeface="Centaur" panose="02030504050205020304" pitchFamily="18" charset="0"/>
                <a:cs typeface="Times New Roman" panose="02020603050405020304" pitchFamily="18" charset="0"/>
              </a:rPr>
              <a:t>Vedanti Raut                     12413458             38</a:t>
            </a:r>
          </a:p>
          <a:p>
            <a:pPr marL="342900" indent="-342900">
              <a:lnSpc>
                <a:spcPct val="150000"/>
              </a:lnSpc>
              <a:buAutoNum type="arabicParenR"/>
            </a:pPr>
            <a:r>
              <a:rPr lang="en-US" sz="2100" dirty="0">
                <a:latin typeface="Centaur" panose="02030504050205020304" pitchFamily="18" charset="0"/>
                <a:cs typeface="Times New Roman" panose="02020603050405020304" pitchFamily="18" charset="0"/>
              </a:rPr>
              <a:t>Saachi Laturiya                  12414728             42</a:t>
            </a:r>
          </a:p>
          <a:p>
            <a:pPr marL="342900" indent="-342900">
              <a:lnSpc>
                <a:spcPct val="150000"/>
              </a:lnSpc>
              <a:buAutoNum type="arabicParenR"/>
            </a:pPr>
            <a:r>
              <a:rPr lang="en-US" sz="2100" dirty="0">
                <a:latin typeface="Centaur" panose="02030504050205020304" pitchFamily="18" charset="0"/>
                <a:cs typeface="Times New Roman" panose="02020603050405020304" pitchFamily="18" charset="0"/>
              </a:rPr>
              <a:t>Utkarsh Salunkhe              12412161             51</a:t>
            </a:r>
          </a:p>
          <a:p>
            <a:pPr marL="342900" indent="-342900">
              <a:lnSpc>
                <a:spcPct val="150000"/>
              </a:lnSpc>
              <a:buAutoNum type="arabicParenR"/>
            </a:pPr>
            <a:r>
              <a:rPr lang="en-US" sz="2100" dirty="0">
                <a:latin typeface="Centaur" panose="02030504050205020304" pitchFamily="18" charset="0"/>
                <a:cs typeface="Times New Roman" panose="02020603050405020304" pitchFamily="18" charset="0"/>
              </a:rPr>
              <a:t>Vaidik Samarth                 12410371              52</a:t>
            </a:r>
            <a:endParaRPr lang="en-US" sz="2100" dirty="0">
              <a:latin typeface="Centaur" panose="02030504050205020304" pitchFamily="18" charset="0"/>
              <a:cs typeface="Times New Roman" panose="02020603050405020304" pitchFamily="18" charset="0"/>
              <a:sym typeface="Poppins Bold"/>
            </a:endParaRPr>
          </a:p>
          <a:p>
            <a:pPr>
              <a:lnSpc>
                <a:spcPts val="2344"/>
              </a:lnSpc>
            </a:pPr>
            <a:endParaRPr lang="en-US" sz="1674" b="1" dirty="0">
              <a:solidFill>
                <a:srgbClr val="000000"/>
              </a:solidFill>
              <a:latin typeface="Poppins Bold"/>
              <a:ea typeface="Poppins Bold"/>
              <a:cs typeface="Poppins Bold"/>
              <a:sym typeface="Poppins 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txBox="1"/>
          <p:nvPr/>
        </p:nvSpPr>
        <p:spPr>
          <a:xfrm>
            <a:off x="381000" y="1143000"/>
            <a:ext cx="3040831" cy="398442"/>
          </a:xfrm>
          <a:prstGeom prst="rect">
            <a:avLst/>
          </a:prstGeom>
        </p:spPr>
        <p:txBody>
          <a:bodyPr wrap="square" lIns="0" tIns="0" rIns="0" bIns="0" rtlCol="0" anchor="t">
            <a:spAutoFit/>
          </a:bodyPr>
          <a:lstStyle/>
          <a:p>
            <a:pPr algn="ctr">
              <a:lnSpc>
                <a:spcPts val="3009"/>
              </a:lnSpc>
              <a:spcBef>
                <a:spcPct val="0"/>
              </a:spcBef>
            </a:pPr>
            <a:r>
              <a:rPr lang="en-US" sz="3200" b="1" dirty="0">
                <a:solidFill>
                  <a:schemeClr val="tx2">
                    <a:lumMod val="75000"/>
                  </a:schemeClr>
                </a:solidFill>
                <a:latin typeface="Book Antiqua" panose="02040602050305030304" pitchFamily="18" charset="0"/>
                <a:cs typeface="Times New Roman" panose="02020603050405020304" pitchFamily="18" charset="0"/>
                <a:sym typeface="League Spartan"/>
              </a:rPr>
              <a:t>Contents</a:t>
            </a:r>
          </a:p>
        </p:txBody>
      </p:sp>
      <p:sp>
        <p:nvSpPr>
          <p:cNvPr id="7" name="AutoShape 7"/>
          <p:cNvSpPr/>
          <p:nvPr/>
        </p:nvSpPr>
        <p:spPr>
          <a:xfrm flipV="1">
            <a:off x="514360" y="1950536"/>
            <a:ext cx="536" cy="123"/>
          </a:xfrm>
          <a:prstGeom prst="line">
            <a:avLst/>
          </a:prstGeom>
          <a:ln w="19050" cap="flat">
            <a:solidFill>
              <a:srgbClr val="000000"/>
            </a:solidFill>
            <a:prstDash val="solid"/>
            <a:headEnd type="none" w="sm" len="sm"/>
            <a:tailEnd type="none" w="sm" len="sm"/>
          </a:ln>
        </p:spPr>
      </p:sp>
      <p:sp>
        <p:nvSpPr>
          <p:cNvPr id="9" name="TextBox 9"/>
          <p:cNvSpPr txBox="1"/>
          <p:nvPr/>
        </p:nvSpPr>
        <p:spPr>
          <a:xfrm>
            <a:off x="1066800" y="1752600"/>
            <a:ext cx="6594191" cy="4820102"/>
          </a:xfrm>
          <a:prstGeom prst="rect">
            <a:avLst/>
          </a:prstGeom>
        </p:spPr>
        <p:txBody>
          <a:bodyPr lIns="0" tIns="0" rIns="0" bIns="0" rtlCol="0" anchor="t">
            <a:spAutoFit/>
          </a:bodyPr>
          <a:lstStyle/>
          <a:p>
            <a:pPr>
              <a:lnSpc>
                <a:spcPts val="2940"/>
              </a:lnSpc>
            </a:pPr>
            <a:r>
              <a:rPr lang="en-US" sz="2000" dirty="0">
                <a:latin typeface="Centaur" panose="02030504050205020304" pitchFamily="18" charset="0"/>
                <a:ea typeface="Canva Sans Bold"/>
                <a:cs typeface="Times New Roman" panose="02020603050405020304" pitchFamily="18" charset="0"/>
                <a:sym typeface="Canva Sans Bold"/>
              </a:rPr>
              <a:t>1) Introduction</a:t>
            </a:r>
          </a:p>
          <a:p>
            <a:pPr>
              <a:lnSpc>
                <a:spcPts val="2940"/>
              </a:lnSpc>
            </a:pPr>
            <a:r>
              <a:rPr lang="en-US" sz="2000" dirty="0">
                <a:latin typeface="Centaur" panose="02030504050205020304" pitchFamily="18" charset="0"/>
                <a:ea typeface="Canva Sans Bold"/>
                <a:cs typeface="Times New Roman" panose="02020603050405020304" pitchFamily="18" charset="0"/>
                <a:sym typeface="Canva Sans Bold"/>
              </a:rPr>
              <a:t>2) Motivation </a:t>
            </a:r>
          </a:p>
          <a:p>
            <a:pPr>
              <a:lnSpc>
                <a:spcPts val="2940"/>
              </a:lnSpc>
            </a:pPr>
            <a:r>
              <a:rPr lang="en-US" sz="2000" dirty="0">
                <a:latin typeface="Centaur" panose="02030504050205020304" pitchFamily="18" charset="0"/>
                <a:ea typeface="Canva Sans Bold"/>
                <a:cs typeface="Times New Roman" panose="02020603050405020304" pitchFamily="18" charset="0"/>
                <a:sym typeface="Canva Sans Bold"/>
              </a:rPr>
              <a:t>3) Problem Statement</a:t>
            </a:r>
          </a:p>
          <a:p>
            <a:pPr>
              <a:lnSpc>
                <a:spcPts val="2940"/>
              </a:lnSpc>
            </a:pPr>
            <a:r>
              <a:rPr lang="en-US" sz="2000" dirty="0">
                <a:latin typeface="Centaur" panose="02030504050205020304" pitchFamily="18" charset="0"/>
                <a:ea typeface="Canva Sans Bold"/>
                <a:cs typeface="Times New Roman" panose="02020603050405020304" pitchFamily="18" charset="0"/>
                <a:sym typeface="Canva Sans Bold"/>
              </a:rPr>
              <a:t>4) Objectives</a:t>
            </a:r>
          </a:p>
          <a:p>
            <a:pPr>
              <a:lnSpc>
                <a:spcPts val="2940"/>
              </a:lnSpc>
            </a:pPr>
            <a:r>
              <a:rPr lang="en-US" sz="2000" dirty="0">
                <a:latin typeface="Centaur" panose="02030504050205020304" pitchFamily="18" charset="0"/>
                <a:ea typeface="Canva Sans Bold"/>
                <a:cs typeface="Times New Roman" panose="02020603050405020304" pitchFamily="18" charset="0"/>
                <a:sym typeface="Canva Sans Bold"/>
              </a:rPr>
              <a:t>5) Literature Review</a:t>
            </a:r>
          </a:p>
          <a:p>
            <a:pPr>
              <a:lnSpc>
                <a:spcPts val="2940"/>
              </a:lnSpc>
            </a:pPr>
            <a:r>
              <a:rPr lang="en-US" sz="2000" dirty="0">
                <a:latin typeface="Centaur" panose="02030504050205020304" pitchFamily="18" charset="0"/>
                <a:ea typeface="Canva Sans Bold"/>
                <a:cs typeface="Times New Roman" panose="02020603050405020304" pitchFamily="18" charset="0"/>
                <a:sym typeface="Canva Sans Bold"/>
              </a:rPr>
              <a:t>6) System Design and Architecture</a:t>
            </a:r>
          </a:p>
          <a:p>
            <a:pPr>
              <a:lnSpc>
                <a:spcPts val="2940"/>
              </a:lnSpc>
            </a:pPr>
            <a:r>
              <a:rPr lang="en-US" sz="2000" dirty="0">
                <a:latin typeface="Centaur" panose="02030504050205020304" pitchFamily="18" charset="0"/>
                <a:ea typeface="Canva Sans Bold"/>
                <a:cs typeface="Times New Roman" panose="02020603050405020304" pitchFamily="18" charset="0"/>
                <a:sym typeface="Canva Sans Bold"/>
              </a:rPr>
              <a:t>7) Technology Stack</a:t>
            </a:r>
          </a:p>
          <a:p>
            <a:pPr>
              <a:lnSpc>
                <a:spcPts val="2940"/>
              </a:lnSpc>
            </a:pPr>
            <a:r>
              <a:rPr lang="en-US" sz="2000" dirty="0">
                <a:latin typeface="Centaur" panose="02030504050205020304" pitchFamily="18" charset="0"/>
                <a:ea typeface="Canva Sans Bold"/>
                <a:cs typeface="Times New Roman" panose="02020603050405020304" pitchFamily="18" charset="0"/>
                <a:sym typeface="Canva Sans Bold"/>
              </a:rPr>
              <a:t>8) Tech Stack</a:t>
            </a:r>
          </a:p>
          <a:p>
            <a:pPr>
              <a:lnSpc>
                <a:spcPts val="2940"/>
              </a:lnSpc>
            </a:pPr>
            <a:r>
              <a:rPr lang="en-US" sz="2000" dirty="0">
                <a:latin typeface="Centaur" panose="02030504050205020304" pitchFamily="18" charset="0"/>
                <a:ea typeface="Canva Sans Bold"/>
                <a:cs typeface="Times New Roman" panose="02020603050405020304" pitchFamily="18" charset="0"/>
                <a:sym typeface="Canva Sans Bold"/>
              </a:rPr>
              <a:t>9) What’s New and Unique</a:t>
            </a:r>
          </a:p>
          <a:p>
            <a:pPr>
              <a:lnSpc>
                <a:spcPts val="2940"/>
              </a:lnSpc>
            </a:pPr>
            <a:r>
              <a:rPr lang="en-US" sz="2000" dirty="0">
                <a:latin typeface="Centaur" panose="02030504050205020304" pitchFamily="18" charset="0"/>
                <a:ea typeface="Canva Sans Bold"/>
                <a:cs typeface="Times New Roman" panose="02020603050405020304" pitchFamily="18" charset="0"/>
                <a:sym typeface="Canva Sans Bold"/>
              </a:rPr>
              <a:t>10) Key Feature – Role Based Dashboard</a:t>
            </a:r>
          </a:p>
          <a:p>
            <a:pPr>
              <a:lnSpc>
                <a:spcPts val="2940"/>
              </a:lnSpc>
            </a:pPr>
            <a:r>
              <a:rPr lang="en-US" sz="2000" dirty="0">
                <a:latin typeface="Centaur" panose="02030504050205020304" pitchFamily="18" charset="0"/>
                <a:ea typeface="Canva Sans Bold"/>
                <a:cs typeface="Times New Roman" panose="02020603050405020304" pitchFamily="18" charset="0"/>
                <a:sym typeface="Canva Sans Bold"/>
              </a:rPr>
              <a:t>11) Challenges and Future Scope</a:t>
            </a:r>
          </a:p>
          <a:p>
            <a:pPr>
              <a:lnSpc>
                <a:spcPts val="2870"/>
              </a:lnSpc>
            </a:pPr>
            <a:r>
              <a:rPr lang="en-US" sz="2000" dirty="0">
                <a:latin typeface="Centaur" panose="02030504050205020304" pitchFamily="18" charset="0"/>
                <a:ea typeface="Canva Sans Bold"/>
                <a:cs typeface="Times New Roman" panose="02020603050405020304" pitchFamily="18" charset="0"/>
                <a:sym typeface="Canva Sans Bold"/>
              </a:rPr>
              <a:t>12) Conclusion</a:t>
            </a:r>
          </a:p>
          <a:p>
            <a:pPr>
              <a:lnSpc>
                <a:spcPts val="2870"/>
              </a:lnSpc>
            </a:pPr>
            <a:r>
              <a:rPr lang="en-US" sz="2000" dirty="0">
                <a:latin typeface="Centaur" panose="02030504050205020304" pitchFamily="18" charset="0"/>
                <a:ea typeface="Canva Sans Bold"/>
                <a:cs typeface="Times New Roman" panose="02020603050405020304" pitchFamily="18" charset="0"/>
                <a:sym typeface="Canva Sans Bold"/>
              </a:rPr>
              <a:t>13) References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2BE91A9-EBE9-321F-70B4-3403FFCBB0A6}"/>
              </a:ext>
            </a:extLst>
          </p:cNvPr>
          <p:cNvSpPr>
            <a:spLocks noGrp="1"/>
          </p:cNvSpPr>
          <p:nvPr>
            <p:ph type="ftr" sz="quarter" idx="11"/>
          </p:nvPr>
        </p:nvSpPr>
        <p:spPr>
          <a:xfrm>
            <a:off x="1066800" y="6370266"/>
            <a:ext cx="7010400" cy="365125"/>
          </a:xfrm>
        </p:spPr>
        <p:txBody>
          <a:bodyPr/>
          <a:lstStyle/>
          <a:p>
            <a:r>
              <a:rPr lang="en-US" dirty="0"/>
              <a:t>Vishwakarma Institute of Technology, Department of Computer Science of Engineering( Artificial Intelligence)</a:t>
            </a:r>
          </a:p>
        </p:txBody>
      </p:sp>
      <p:sp>
        <p:nvSpPr>
          <p:cNvPr id="3" name="Slide Number Placeholder 2">
            <a:extLst>
              <a:ext uri="{FF2B5EF4-FFF2-40B4-BE49-F238E27FC236}">
                <a16:creationId xmlns:a16="http://schemas.microsoft.com/office/drawing/2014/main" id="{BDC07BE6-55BD-02D3-E16E-AC60723C0E7F}"/>
              </a:ext>
            </a:extLst>
          </p:cNvPr>
          <p:cNvSpPr>
            <a:spLocks noGrp="1"/>
          </p:cNvSpPr>
          <p:nvPr>
            <p:ph type="sldNum" sz="quarter" idx="12"/>
          </p:nvPr>
        </p:nvSpPr>
        <p:spPr/>
        <p:txBody>
          <a:bodyPr/>
          <a:lstStyle/>
          <a:p>
            <a:fld id="{B6F15528-21DE-4FAA-801E-634DDDAF4B2B}" type="slidenum">
              <a:rPr lang="en-US" smtClean="0"/>
              <a:pPr/>
              <a:t>4</a:t>
            </a:fld>
            <a:endParaRPr lang="en-US"/>
          </a:p>
        </p:txBody>
      </p:sp>
      <p:sp>
        <p:nvSpPr>
          <p:cNvPr id="5" name="TextBox 4">
            <a:extLst>
              <a:ext uri="{FF2B5EF4-FFF2-40B4-BE49-F238E27FC236}">
                <a16:creationId xmlns:a16="http://schemas.microsoft.com/office/drawing/2014/main" id="{7335C673-9CF9-F745-7629-29D2CA35E715}"/>
              </a:ext>
            </a:extLst>
          </p:cNvPr>
          <p:cNvSpPr txBox="1"/>
          <p:nvPr/>
        </p:nvSpPr>
        <p:spPr>
          <a:xfrm>
            <a:off x="914400" y="914400"/>
            <a:ext cx="8001000" cy="584775"/>
          </a:xfrm>
          <a:prstGeom prst="rect">
            <a:avLst/>
          </a:prstGeom>
          <a:noFill/>
        </p:spPr>
        <p:txBody>
          <a:bodyPr wrap="square" rtlCol="0">
            <a:spAutoFit/>
          </a:bodyPr>
          <a:lstStyle/>
          <a:p>
            <a:pPr algn="ctr"/>
            <a:r>
              <a:rPr lang="en-US" sz="3200" b="1" dirty="0">
                <a:solidFill>
                  <a:schemeClr val="tx2">
                    <a:lumMod val="75000"/>
                  </a:schemeClr>
                </a:solidFill>
                <a:latin typeface="Book Antiqua" panose="02040602050305030304" pitchFamily="18" charset="0"/>
                <a:ea typeface="Canva Sans Bold"/>
                <a:cs typeface="Times New Roman" panose="02020603050405020304" pitchFamily="18" charset="0"/>
                <a:sym typeface="Canva Sans Bold"/>
              </a:rPr>
              <a:t>Introduction</a:t>
            </a:r>
          </a:p>
        </p:txBody>
      </p:sp>
      <p:sp>
        <p:nvSpPr>
          <p:cNvPr id="6" name="TextBox 5">
            <a:extLst>
              <a:ext uri="{FF2B5EF4-FFF2-40B4-BE49-F238E27FC236}">
                <a16:creationId xmlns:a16="http://schemas.microsoft.com/office/drawing/2014/main" id="{1EEB163E-9805-8E3D-3989-DA618E9BFC1F}"/>
              </a:ext>
            </a:extLst>
          </p:cNvPr>
          <p:cNvSpPr txBox="1"/>
          <p:nvPr/>
        </p:nvSpPr>
        <p:spPr>
          <a:xfrm>
            <a:off x="1028700" y="1676400"/>
            <a:ext cx="7772400" cy="5570756"/>
          </a:xfrm>
          <a:prstGeom prst="rect">
            <a:avLst/>
          </a:prstGeom>
          <a:noFill/>
        </p:spPr>
        <p:txBody>
          <a:bodyPr wrap="square" rtlCol="0">
            <a:spAutoFit/>
          </a:bodyPr>
          <a:lstStyle/>
          <a:p>
            <a:r>
              <a:rPr lang="en-US" sz="1900" dirty="0">
                <a:latin typeface="Centaur" panose="02030504050205020304" pitchFamily="18" charset="0"/>
                <a:cs typeface="Times New Roman" panose="02020603050405020304" pitchFamily="18" charset="0"/>
              </a:rPr>
              <a:t>Modern construction projects require coordination among planners, architects, civil engineers, and project managers. Traditional workflows often rely on static drawings and disconnected tools, making project evaluation difficult before execution.</a:t>
            </a:r>
          </a:p>
          <a:p>
            <a:r>
              <a:rPr lang="en-US" sz="1900" dirty="0" err="1">
                <a:latin typeface="Centaur" panose="02030504050205020304" pitchFamily="18" charset="0"/>
                <a:cs typeface="Times New Roman" panose="02020603050405020304" pitchFamily="18" charset="0"/>
              </a:rPr>
              <a:t>BuildSim</a:t>
            </a:r>
            <a:r>
              <a:rPr lang="en-US" sz="1900" dirty="0">
                <a:latin typeface="Centaur" panose="02030504050205020304" pitchFamily="18" charset="0"/>
                <a:cs typeface="Times New Roman" panose="02020603050405020304" pitchFamily="18" charset="0"/>
              </a:rPr>
              <a:t> is a web-based construction planning and simulation platform that enables stakeholders to visualize, analyze, and manage projects through role-based dashboards.</a:t>
            </a:r>
          </a:p>
          <a:p>
            <a:r>
              <a:rPr lang="en-US" sz="1900" dirty="0">
                <a:latin typeface="Centaur" panose="02030504050205020304" pitchFamily="18" charset="0"/>
                <a:cs typeface="Times New Roman" panose="02020603050405020304" pitchFamily="18" charset="0"/>
              </a:rPr>
              <a:t>The system integrates:</a:t>
            </a:r>
          </a:p>
          <a:p>
            <a:r>
              <a:rPr lang="en-US" sz="1900" dirty="0">
                <a:latin typeface="Centaur" panose="02030504050205020304" pitchFamily="18" charset="0"/>
                <a:cs typeface="Times New Roman" panose="02020603050405020304" pitchFamily="18" charset="0"/>
              </a:rPr>
              <a:t>• 3D building visualization</a:t>
            </a:r>
            <a:br>
              <a:rPr lang="en-US" sz="1900" dirty="0">
                <a:latin typeface="Centaur" panose="02030504050205020304" pitchFamily="18" charset="0"/>
                <a:cs typeface="Times New Roman" panose="02020603050405020304" pitchFamily="18" charset="0"/>
              </a:rPr>
            </a:br>
            <a:r>
              <a:rPr lang="en-US" sz="1900" dirty="0">
                <a:latin typeface="Centaur" panose="02030504050205020304" pitchFamily="18" charset="0"/>
                <a:cs typeface="Times New Roman" panose="02020603050405020304" pitchFamily="18" charset="0"/>
              </a:rPr>
              <a:t>• Construction progress simulation</a:t>
            </a:r>
            <a:br>
              <a:rPr lang="en-US" sz="1900" dirty="0">
                <a:latin typeface="Centaur" panose="02030504050205020304" pitchFamily="18" charset="0"/>
                <a:cs typeface="Times New Roman" panose="02020603050405020304" pitchFamily="18" charset="0"/>
              </a:rPr>
            </a:br>
            <a:r>
              <a:rPr lang="en-US" sz="1900" dirty="0">
                <a:latin typeface="Centaur" panose="02030504050205020304" pitchFamily="18" charset="0"/>
                <a:cs typeface="Times New Roman" panose="02020603050405020304" pitchFamily="18" charset="0"/>
              </a:rPr>
              <a:t>• Structural analysis</a:t>
            </a:r>
            <a:br>
              <a:rPr lang="en-US" sz="1900" dirty="0">
                <a:latin typeface="Centaur" panose="02030504050205020304" pitchFamily="18" charset="0"/>
                <a:cs typeface="Times New Roman" panose="02020603050405020304" pitchFamily="18" charset="0"/>
              </a:rPr>
            </a:br>
            <a:r>
              <a:rPr lang="en-US" sz="1900" dirty="0">
                <a:latin typeface="Centaur" panose="02030504050205020304" pitchFamily="18" charset="0"/>
                <a:cs typeface="Times New Roman" panose="02020603050405020304" pitchFamily="18" charset="0"/>
              </a:rPr>
              <a:t>• Resource and budget planning</a:t>
            </a:r>
            <a:br>
              <a:rPr lang="en-US" sz="1900" dirty="0">
                <a:latin typeface="Centaur" panose="02030504050205020304" pitchFamily="18" charset="0"/>
                <a:cs typeface="Times New Roman" panose="02020603050405020304" pitchFamily="18" charset="0"/>
              </a:rPr>
            </a:br>
            <a:r>
              <a:rPr lang="en-US" sz="1900" dirty="0">
                <a:latin typeface="Centaur" panose="02030504050205020304" pitchFamily="18" charset="0"/>
                <a:cs typeface="Times New Roman" panose="02020603050405020304" pitchFamily="18" charset="0"/>
              </a:rPr>
              <a:t>• Risk assessment and decision support</a:t>
            </a:r>
          </a:p>
          <a:p>
            <a:r>
              <a:rPr lang="en-US" sz="1900" dirty="0">
                <a:latin typeface="Centaur" panose="02030504050205020304" pitchFamily="18" charset="0"/>
                <a:cs typeface="Times New Roman" panose="02020603050405020304" pitchFamily="18" charset="0"/>
              </a:rPr>
              <a:t>By combining visualization and simulation, </a:t>
            </a:r>
            <a:r>
              <a:rPr lang="en-US" sz="1900" dirty="0" err="1">
                <a:latin typeface="Centaur" panose="02030504050205020304" pitchFamily="18" charset="0"/>
                <a:cs typeface="Times New Roman" panose="02020603050405020304" pitchFamily="18" charset="0"/>
              </a:rPr>
              <a:t>BuildSim</a:t>
            </a:r>
            <a:r>
              <a:rPr lang="en-US" sz="1900" dirty="0">
                <a:latin typeface="Centaur" panose="02030504050205020304" pitchFamily="18" charset="0"/>
                <a:cs typeface="Times New Roman" panose="02020603050405020304" pitchFamily="18" charset="0"/>
              </a:rPr>
              <a:t> helps stakeholders make informed decisions, improve collaboration, and reduce project uncertainties before construction begins.</a:t>
            </a:r>
          </a:p>
          <a:p>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3946368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A0C891D-A5CF-CDCD-3F91-11D68C2A000A}"/>
              </a:ext>
            </a:extLst>
          </p:cNvPr>
          <p:cNvSpPr>
            <a:spLocks noGrp="1"/>
          </p:cNvSpPr>
          <p:nvPr>
            <p:ph type="ftr" sz="quarter" idx="11"/>
          </p:nvPr>
        </p:nvSpPr>
        <p:spPr>
          <a:xfrm>
            <a:off x="1219200" y="6360538"/>
            <a:ext cx="7239000" cy="365125"/>
          </a:xfrm>
        </p:spPr>
        <p:txBody>
          <a:bodyPr/>
          <a:lstStyle/>
          <a:p>
            <a:r>
              <a:rPr lang="en-US" dirty="0"/>
              <a:t>Vishwakarma Institute of Technology, Department of Computer Science of Engineering( Artificial Intelligence)</a:t>
            </a:r>
          </a:p>
        </p:txBody>
      </p:sp>
      <p:sp>
        <p:nvSpPr>
          <p:cNvPr id="3" name="Slide Number Placeholder 2">
            <a:extLst>
              <a:ext uri="{FF2B5EF4-FFF2-40B4-BE49-F238E27FC236}">
                <a16:creationId xmlns:a16="http://schemas.microsoft.com/office/drawing/2014/main" id="{5D29D88B-E3C5-1A5A-CC0E-A8E4B524589C}"/>
              </a:ext>
            </a:extLst>
          </p:cNvPr>
          <p:cNvSpPr>
            <a:spLocks noGrp="1"/>
          </p:cNvSpPr>
          <p:nvPr>
            <p:ph type="sldNum" sz="quarter" idx="12"/>
          </p:nvPr>
        </p:nvSpPr>
        <p:spPr/>
        <p:txBody>
          <a:bodyPr/>
          <a:lstStyle/>
          <a:p>
            <a:fld id="{B6F15528-21DE-4FAA-801E-634DDDAF4B2B}" type="slidenum">
              <a:rPr lang="en-US" smtClean="0"/>
              <a:pPr/>
              <a:t>5</a:t>
            </a:fld>
            <a:endParaRPr lang="en-US"/>
          </a:p>
        </p:txBody>
      </p:sp>
      <p:sp>
        <p:nvSpPr>
          <p:cNvPr id="4" name="TextBox 3">
            <a:extLst>
              <a:ext uri="{FF2B5EF4-FFF2-40B4-BE49-F238E27FC236}">
                <a16:creationId xmlns:a16="http://schemas.microsoft.com/office/drawing/2014/main" id="{5936F44A-557C-9DA4-94EE-CF825975E7B7}"/>
              </a:ext>
            </a:extLst>
          </p:cNvPr>
          <p:cNvSpPr txBox="1"/>
          <p:nvPr/>
        </p:nvSpPr>
        <p:spPr>
          <a:xfrm>
            <a:off x="952500" y="939225"/>
            <a:ext cx="7848600" cy="584775"/>
          </a:xfrm>
          <a:prstGeom prst="rect">
            <a:avLst/>
          </a:prstGeom>
          <a:noFill/>
        </p:spPr>
        <p:txBody>
          <a:bodyPr wrap="square" rtlCol="0">
            <a:spAutoFit/>
          </a:bodyPr>
          <a:lstStyle/>
          <a:p>
            <a:pPr algn="ctr"/>
            <a:r>
              <a:rPr lang="en-US" sz="3200" b="1" dirty="0">
                <a:solidFill>
                  <a:schemeClr val="tx2">
                    <a:lumMod val="75000"/>
                  </a:schemeClr>
                </a:solidFill>
                <a:latin typeface="Book Antiqua" panose="02040602050305030304" pitchFamily="18" charset="0"/>
                <a:cs typeface="Times New Roman" panose="02020603050405020304" pitchFamily="18" charset="0"/>
                <a:sym typeface="Canva Sans Bold"/>
              </a:rPr>
              <a:t>Motivation</a:t>
            </a:r>
            <a:endParaRPr lang="en-IN" sz="3200" b="1" dirty="0">
              <a:solidFill>
                <a:schemeClr val="tx2">
                  <a:lumMod val="75000"/>
                </a:schemeClr>
              </a:solidFill>
              <a:latin typeface="Book Antiqua" panose="0204060205030503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8E4126C-DC57-D69D-37B1-DA607AF8CF6B}"/>
              </a:ext>
            </a:extLst>
          </p:cNvPr>
          <p:cNvSpPr txBox="1"/>
          <p:nvPr/>
        </p:nvSpPr>
        <p:spPr>
          <a:xfrm>
            <a:off x="1219200" y="1524000"/>
            <a:ext cx="6934200" cy="646331"/>
          </a:xfrm>
          <a:prstGeom prst="rect">
            <a:avLst/>
          </a:prstGeom>
          <a:noFill/>
        </p:spPr>
        <p:txBody>
          <a:bodyPr wrap="square" rtlCol="0">
            <a:spAutoFit/>
          </a:bodyPr>
          <a:lstStyle/>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IN" dirty="0"/>
          </a:p>
        </p:txBody>
      </p:sp>
      <p:sp>
        <p:nvSpPr>
          <p:cNvPr id="7" name="TextBox 6">
            <a:extLst>
              <a:ext uri="{FF2B5EF4-FFF2-40B4-BE49-F238E27FC236}">
                <a16:creationId xmlns:a16="http://schemas.microsoft.com/office/drawing/2014/main" id="{A4B44D51-2CAC-BD5E-023B-315867FC96CF}"/>
              </a:ext>
            </a:extLst>
          </p:cNvPr>
          <p:cNvSpPr txBox="1"/>
          <p:nvPr/>
        </p:nvSpPr>
        <p:spPr>
          <a:xfrm>
            <a:off x="1066800" y="1690062"/>
            <a:ext cx="7620000" cy="3893374"/>
          </a:xfrm>
          <a:prstGeom prst="rect">
            <a:avLst/>
          </a:prstGeom>
          <a:noFill/>
        </p:spPr>
        <p:txBody>
          <a:bodyPr wrap="square">
            <a:spAutoFit/>
          </a:bodyPr>
          <a:lstStyle/>
          <a:p>
            <a:pPr algn="just"/>
            <a:r>
              <a:rPr lang="en-US" sz="1900" dirty="0">
                <a:latin typeface="Centaur" panose="02030504050205020304" pitchFamily="18" charset="0"/>
              </a:rPr>
              <a:t>The construction industry involves multiple stakeholders working across planning, design, structural analysis, and project management. These activities are often performed using separate tools, making collaboration difficult and reducing visibility into the overall project lifecycle. As a result, project teams may face communication gaps, planning inefficiencies, budget overruns, and delays.</a:t>
            </a:r>
          </a:p>
          <a:p>
            <a:pPr algn="just"/>
            <a:endParaRPr lang="en-US" sz="1900" dirty="0">
              <a:latin typeface="Centaur" panose="02030504050205020304" pitchFamily="18" charset="0"/>
            </a:endParaRPr>
          </a:p>
          <a:p>
            <a:pPr algn="just"/>
            <a:r>
              <a:rPr lang="en-US" sz="1900" dirty="0">
                <a:latin typeface="Centaur" panose="02030504050205020304" pitchFamily="18" charset="0"/>
              </a:rPr>
              <a:t>The motivation behind </a:t>
            </a:r>
            <a:r>
              <a:rPr lang="en-US" sz="1900" dirty="0" err="1">
                <a:latin typeface="Centaur" panose="02030504050205020304" pitchFamily="18" charset="0"/>
              </a:rPr>
              <a:t>BuildSim</a:t>
            </a:r>
            <a:r>
              <a:rPr lang="en-US" sz="1900" dirty="0">
                <a:latin typeface="Centaur" panose="02030504050205020304" pitchFamily="18" charset="0"/>
              </a:rPr>
              <a:t> is to create a unified platform where different stakeholders can visualize, analyze, and simulate construction projects before execution. By integrating project planning, design review, structural assessment, and management insights into a single environment, the platform aims to support better decision-making and improve coordination among project participants. This simulation-driven approach helps identify potential issues early and enables stakeholders to evaluate alternatives before actual construction begins.</a:t>
            </a:r>
          </a:p>
        </p:txBody>
      </p:sp>
    </p:spTree>
    <p:extLst>
      <p:ext uri="{BB962C8B-B14F-4D97-AF65-F5344CB8AC3E}">
        <p14:creationId xmlns:p14="http://schemas.microsoft.com/office/powerpoint/2010/main" val="14781301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11D99EF-9276-A77B-C851-52AAC50A7874}"/>
              </a:ext>
            </a:extLst>
          </p:cNvPr>
          <p:cNvSpPr>
            <a:spLocks noGrp="1"/>
          </p:cNvSpPr>
          <p:nvPr>
            <p:ph type="ftr" sz="quarter" idx="11"/>
          </p:nvPr>
        </p:nvSpPr>
        <p:spPr>
          <a:xfrm>
            <a:off x="1124093" y="5807074"/>
            <a:ext cx="7467600" cy="1463675"/>
          </a:xfrm>
        </p:spPr>
        <p:txBody>
          <a:bodyPr/>
          <a:lstStyle/>
          <a:p>
            <a:r>
              <a:rPr lang="en-US" dirty="0"/>
              <a:t>Vishwakarma Institute of Technology, Department of Computer Science of Engineering( Artificial Intelligence)</a:t>
            </a:r>
          </a:p>
        </p:txBody>
      </p:sp>
      <p:sp>
        <p:nvSpPr>
          <p:cNvPr id="3" name="Slide Number Placeholder 2">
            <a:extLst>
              <a:ext uri="{FF2B5EF4-FFF2-40B4-BE49-F238E27FC236}">
                <a16:creationId xmlns:a16="http://schemas.microsoft.com/office/drawing/2014/main" id="{6199CD47-9BEA-1E81-54F6-B33A66E3E7B8}"/>
              </a:ext>
            </a:extLst>
          </p:cNvPr>
          <p:cNvSpPr>
            <a:spLocks noGrp="1"/>
          </p:cNvSpPr>
          <p:nvPr>
            <p:ph type="sldNum" sz="quarter" idx="12"/>
          </p:nvPr>
        </p:nvSpPr>
        <p:spPr/>
        <p:txBody>
          <a:bodyPr/>
          <a:lstStyle/>
          <a:p>
            <a:fld id="{B6F15528-21DE-4FAA-801E-634DDDAF4B2B}" type="slidenum">
              <a:rPr lang="en-US" smtClean="0"/>
              <a:pPr/>
              <a:t>6</a:t>
            </a:fld>
            <a:endParaRPr lang="en-US"/>
          </a:p>
        </p:txBody>
      </p:sp>
      <p:sp>
        <p:nvSpPr>
          <p:cNvPr id="4" name="TextBox 3">
            <a:extLst>
              <a:ext uri="{FF2B5EF4-FFF2-40B4-BE49-F238E27FC236}">
                <a16:creationId xmlns:a16="http://schemas.microsoft.com/office/drawing/2014/main" id="{E43A21FD-4F8E-E2F1-B2AD-23EED8D4BAB0}"/>
              </a:ext>
            </a:extLst>
          </p:cNvPr>
          <p:cNvSpPr txBox="1"/>
          <p:nvPr/>
        </p:nvSpPr>
        <p:spPr>
          <a:xfrm>
            <a:off x="2971800" y="974605"/>
            <a:ext cx="3772186" cy="861774"/>
          </a:xfrm>
          <a:prstGeom prst="rect">
            <a:avLst/>
          </a:prstGeom>
          <a:noFill/>
        </p:spPr>
        <p:txBody>
          <a:bodyPr wrap="none" rtlCol="0">
            <a:spAutoFit/>
          </a:bodyPr>
          <a:lstStyle/>
          <a:p>
            <a:r>
              <a:rPr lang="en-US" sz="3200" b="1" dirty="0">
                <a:solidFill>
                  <a:schemeClr val="tx2">
                    <a:lumMod val="75000"/>
                  </a:schemeClr>
                </a:solidFill>
                <a:latin typeface="Book Antiqua" panose="02040602050305030304" pitchFamily="18" charset="0"/>
                <a:cs typeface="Times New Roman" panose="02020603050405020304" pitchFamily="18" charset="0"/>
                <a:sym typeface="Canva Sans Bold"/>
              </a:rPr>
              <a:t>Problem Statement</a:t>
            </a:r>
          </a:p>
          <a:p>
            <a:endParaRPr lang="en-IN" dirty="0"/>
          </a:p>
        </p:txBody>
      </p:sp>
      <p:sp>
        <p:nvSpPr>
          <p:cNvPr id="6" name="TextBox 5">
            <a:extLst>
              <a:ext uri="{FF2B5EF4-FFF2-40B4-BE49-F238E27FC236}">
                <a16:creationId xmlns:a16="http://schemas.microsoft.com/office/drawing/2014/main" id="{1DB2C96C-E28A-0419-6A72-5780DA5B7E41}"/>
              </a:ext>
            </a:extLst>
          </p:cNvPr>
          <p:cNvSpPr txBox="1"/>
          <p:nvPr/>
        </p:nvSpPr>
        <p:spPr>
          <a:xfrm>
            <a:off x="1047893" y="1836379"/>
            <a:ext cx="7467600" cy="3477875"/>
          </a:xfrm>
          <a:prstGeom prst="rect">
            <a:avLst/>
          </a:prstGeom>
          <a:noFill/>
        </p:spPr>
        <p:txBody>
          <a:bodyPr wrap="square">
            <a:spAutoFit/>
          </a:bodyPr>
          <a:lstStyle/>
          <a:p>
            <a:pPr algn="just">
              <a:buNone/>
            </a:pPr>
            <a:r>
              <a:rPr lang="en-US" sz="2000" dirty="0">
                <a:latin typeface="Centaur" panose="02030504050205020304" pitchFamily="18" charset="0"/>
              </a:rPr>
              <a:t>Construction planning often relies on static blueprints and manual scheduling methods that do not provide insights into how different project components interact during execution.</a:t>
            </a:r>
          </a:p>
          <a:p>
            <a:pPr algn="just">
              <a:buNone/>
            </a:pPr>
            <a:r>
              <a:rPr lang="en-US" sz="2000" dirty="0">
                <a:latin typeface="Centaur" panose="02030504050205020304" pitchFamily="18" charset="0"/>
              </a:rPr>
              <a:t>As a result, projects frequently experience:</a:t>
            </a:r>
          </a:p>
          <a:p>
            <a:pPr marL="285750" indent="-285750" algn="just">
              <a:buFont typeface="Arial" panose="020B0604020202020204" pitchFamily="34" charset="0"/>
              <a:buChar char="•"/>
            </a:pPr>
            <a:r>
              <a:rPr lang="en-US" sz="2000" dirty="0">
                <a:latin typeface="Centaur" panose="02030504050205020304" pitchFamily="18" charset="0"/>
              </a:rPr>
              <a:t>Structural design conflicts</a:t>
            </a:r>
          </a:p>
          <a:p>
            <a:pPr marL="285750" indent="-285750" algn="just">
              <a:buFont typeface="Arial" panose="020B0604020202020204" pitchFamily="34" charset="0"/>
              <a:buChar char="•"/>
            </a:pPr>
            <a:r>
              <a:rPr lang="en-US" sz="2000" dirty="0">
                <a:latin typeface="Centaur" panose="02030504050205020304" pitchFamily="18" charset="0"/>
              </a:rPr>
              <a:t>Inaccurate cost estimation</a:t>
            </a:r>
          </a:p>
          <a:p>
            <a:pPr marL="285750" indent="-285750" algn="just">
              <a:buFont typeface="Arial" panose="020B0604020202020204" pitchFamily="34" charset="0"/>
              <a:buChar char="•"/>
            </a:pPr>
            <a:r>
              <a:rPr lang="en-US" sz="2000" dirty="0">
                <a:latin typeface="Centaur" panose="02030504050205020304" pitchFamily="18" charset="0"/>
              </a:rPr>
              <a:t>Inefficient resource allocation</a:t>
            </a:r>
          </a:p>
          <a:p>
            <a:pPr marL="285750" indent="-285750" algn="just">
              <a:buFont typeface="Arial" panose="020B0604020202020204" pitchFamily="34" charset="0"/>
              <a:buChar char="•"/>
            </a:pPr>
            <a:r>
              <a:rPr lang="en-US" sz="2000" dirty="0">
                <a:latin typeface="Centaur" panose="02030504050205020304" pitchFamily="18" charset="0"/>
              </a:rPr>
              <a:t>Unexpected delays</a:t>
            </a:r>
          </a:p>
          <a:p>
            <a:pPr algn="just">
              <a:buNone/>
            </a:pPr>
            <a:r>
              <a:rPr lang="en-US" sz="2000" dirty="0">
                <a:latin typeface="Centaur" panose="02030504050205020304" pitchFamily="18" charset="0"/>
              </a:rPr>
              <a:t>There is therefore a need for a digital simulation platform that integrates building visualization, construction sequencing, cost estimation, and predictive analytics to improve project planning and reduce construction risks.</a:t>
            </a:r>
          </a:p>
        </p:txBody>
      </p:sp>
    </p:spTree>
    <p:extLst>
      <p:ext uri="{BB962C8B-B14F-4D97-AF65-F5344CB8AC3E}">
        <p14:creationId xmlns:p14="http://schemas.microsoft.com/office/powerpoint/2010/main" val="42166352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241171B-A0AF-F735-8486-87EE19294846}"/>
              </a:ext>
            </a:extLst>
          </p:cNvPr>
          <p:cNvSpPr>
            <a:spLocks noGrp="1"/>
          </p:cNvSpPr>
          <p:nvPr>
            <p:ph type="ftr" sz="quarter" idx="11"/>
          </p:nvPr>
        </p:nvSpPr>
        <p:spPr>
          <a:xfrm>
            <a:off x="1371600" y="6356350"/>
            <a:ext cx="7010400" cy="365125"/>
          </a:xfrm>
        </p:spPr>
        <p:txBody>
          <a:bodyPr/>
          <a:lstStyle/>
          <a:p>
            <a:r>
              <a:rPr lang="en-US" dirty="0"/>
              <a:t>Vishwakarma Institute of Technology, Department of Computer Science of Engineering( Artificial Intelligence)</a:t>
            </a:r>
          </a:p>
        </p:txBody>
      </p:sp>
      <p:sp>
        <p:nvSpPr>
          <p:cNvPr id="3" name="Slide Number Placeholder 2">
            <a:extLst>
              <a:ext uri="{FF2B5EF4-FFF2-40B4-BE49-F238E27FC236}">
                <a16:creationId xmlns:a16="http://schemas.microsoft.com/office/drawing/2014/main" id="{4A9D86B2-2EB8-32AE-5CBB-A36438689554}"/>
              </a:ext>
            </a:extLst>
          </p:cNvPr>
          <p:cNvSpPr>
            <a:spLocks noGrp="1"/>
          </p:cNvSpPr>
          <p:nvPr>
            <p:ph type="sldNum" sz="quarter" idx="12"/>
          </p:nvPr>
        </p:nvSpPr>
        <p:spPr/>
        <p:txBody>
          <a:bodyPr/>
          <a:lstStyle/>
          <a:p>
            <a:fld id="{B6F15528-21DE-4FAA-801E-634DDDAF4B2B}" type="slidenum">
              <a:rPr lang="en-US" smtClean="0"/>
              <a:pPr/>
              <a:t>7</a:t>
            </a:fld>
            <a:endParaRPr lang="en-US"/>
          </a:p>
        </p:txBody>
      </p:sp>
      <p:sp>
        <p:nvSpPr>
          <p:cNvPr id="4" name="TextBox 3">
            <a:extLst>
              <a:ext uri="{FF2B5EF4-FFF2-40B4-BE49-F238E27FC236}">
                <a16:creationId xmlns:a16="http://schemas.microsoft.com/office/drawing/2014/main" id="{B7F69A46-2F73-A5A2-4D4D-1BCAE9B93463}"/>
              </a:ext>
            </a:extLst>
          </p:cNvPr>
          <p:cNvSpPr txBox="1"/>
          <p:nvPr/>
        </p:nvSpPr>
        <p:spPr>
          <a:xfrm>
            <a:off x="3733800" y="990600"/>
            <a:ext cx="2188420" cy="861774"/>
          </a:xfrm>
          <a:prstGeom prst="rect">
            <a:avLst/>
          </a:prstGeom>
          <a:noFill/>
        </p:spPr>
        <p:txBody>
          <a:bodyPr wrap="none" rtlCol="0">
            <a:spAutoFit/>
          </a:bodyPr>
          <a:lstStyle/>
          <a:p>
            <a:r>
              <a:rPr lang="en-US" sz="3200" b="1" dirty="0">
                <a:solidFill>
                  <a:schemeClr val="tx2">
                    <a:lumMod val="75000"/>
                  </a:schemeClr>
                </a:solidFill>
                <a:latin typeface="Book Antiqua" panose="02040602050305030304" pitchFamily="18" charset="0"/>
                <a:cs typeface="Times New Roman" panose="02020603050405020304" pitchFamily="18" charset="0"/>
                <a:sym typeface="Canva Sans Bold"/>
              </a:rPr>
              <a:t>Objectives</a:t>
            </a:r>
          </a:p>
          <a:p>
            <a:endParaRPr lang="en-IN" dirty="0"/>
          </a:p>
        </p:txBody>
      </p:sp>
      <p:sp>
        <p:nvSpPr>
          <p:cNvPr id="6" name="TextBox 5">
            <a:extLst>
              <a:ext uri="{FF2B5EF4-FFF2-40B4-BE49-F238E27FC236}">
                <a16:creationId xmlns:a16="http://schemas.microsoft.com/office/drawing/2014/main" id="{0603BD65-C559-9CB9-7987-90EEA39FECB5}"/>
              </a:ext>
            </a:extLst>
          </p:cNvPr>
          <p:cNvSpPr txBox="1"/>
          <p:nvPr/>
        </p:nvSpPr>
        <p:spPr>
          <a:xfrm>
            <a:off x="1066800" y="1752600"/>
            <a:ext cx="7848600" cy="4206280"/>
          </a:xfrm>
          <a:prstGeom prst="rect">
            <a:avLst/>
          </a:prstGeom>
          <a:noFill/>
        </p:spPr>
        <p:txBody>
          <a:bodyPr wrap="square">
            <a:spAutoFit/>
          </a:bodyPr>
          <a:lstStyle/>
          <a:p>
            <a:pPr>
              <a:lnSpc>
                <a:spcPct val="150000"/>
              </a:lnSpc>
              <a:buNone/>
            </a:pPr>
            <a:r>
              <a:rPr lang="en-US" sz="2000" dirty="0">
                <a:latin typeface="Centaur" panose="02030504050205020304" pitchFamily="18" charset="0"/>
              </a:rPr>
              <a:t>The primary objectives of </a:t>
            </a:r>
            <a:r>
              <a:rPr lang="en-US" sz="2000" dirty="0" err="1">
                <a:latin typeface="Centaur" panose="02030504050205020304" pitchFamily="18" charset="0"/>
              </a:rPr>
              <a:t>BuildSim</a:t>
            </a:r>
            <a:r>
              <a:rPr lang="en-US" sz="2000" dirty="0">
                <a:latin typeface="Centaur" panose="02030504050205020304" pitchFamily="18" charset="0"/>
              </a:rPr>
              <a:t> are:</a:t>
            </a:r>
          </a:p>
          <a:p>
            <a:pPr>
              <a:lnSpc>
                <a:spcPct val="150000"/>
              </a:lnSpc>
              <a:buFont typeface="+mj-lt"/>
              <a:buAutoNum type="arabicPeriod"/>
            </a:pPr>
            <a:r>
              <a:rPr lang="en-US" sz="2000" dirty="0">
                <a:latin typeface="Centaur" panose="02030504050205020304" pitchFamily="18" charset="0"/>
              </a:rPr>
              <a:t> Develop a role-based construction simulation platform. </a:t>
            </a:r>
          </a:p>
          <a:p>
            <a:pPr>
              <a:lnSpc>
                <a:spcPct val="150000"/>
              </a:lnSpc>
              <a:buFont typeface="+mj-lt"/>
              <a:buAutoNum type="arabicPeriod"/>
            </a:pPr>
            <a:r>
              <a:rPr lang="en-US" sz="2000" dirty="0">
                <a:latin typeface="Centaur" panose="02030504050205020304" pitchFamily="18" charset="0"/>
              </a:rPr>
              <a:t> Provide interactive 3D building visualization. </a:t>
            </a:r>
          </a:p>
          <a:p>
            <a:pPr>
              <a:lnSpc>
                <a:spcPct val="150000"/>
              </a:lnSpc>
              <a:buFont typeface="+mj-lt"/>
              <a:buAutoNum type="arabicPeriod"/>
            </a:pPr>
            <a:r>
              <a:rPr lang="en-US" sz="2000" dirty="0">
                <a:latin typeface="Centaur" panose="02030504050205020304" pitchFamily="18" charset="0"/>
              </a:rPr>
              <a:t> Simulate construction progress and workflows. </a:t>
            </a:r>
          </a:p>
          <a:p>
            <a:pPr>
              <a:lnSpc>
                <a:spcPct val="150000"/>
              </a:lnSpc>
              <a:buFont typeface="+mj-lt"/>
              <a:buAutoNum type="arabicPeriod"/>
            </a:pPr>
            <a:r>
              <a:rPr lang="en-US" sz="2000" dirty="0">
                <a:latin typeface="Centaur" panose="02030504050205020304" pitchFamily="18" charset="0"/>
              </a:rPr>
              <a:t> Support architectural design evaluation. </a:t>
            </a:r>
          </a:p>
          <a:p>
            <a:pPr>
              <a:lnSpc>
                <a:spcPct val="150000"/>
              </a:lnSpc>
              <a:buFont typeface="+mj-lt"/>
              <a:buAutoNum type="arabicPeriod"/>
            </a:pPr>
            <a:r>
              <a:rPr lang="en-US" sz="2000" dirty="0">
                <a:latin typeface="Centaur" panose="02030504050205020304" pitchFamily="18" charset="0"/>
              </a:rPr>
              <a:t> Enable structural analysis and feasibility assessment. </a:t>
            </a:r>
          </a:p>
          <a:p>
            <a:pPr>
              <a:lnSpc>
                <a:spcPct val="150000"/>
              </a:lnSpc>
              <a:buFont typeface="+mj-lt"/>
              <a:buAutoNum type="arabicPeriod"/>
            </a:pPr>
            <a:r>
              <a:rPr lang="en-US" sz="2000" dirty="0">
                <a:latin typeface="Centaur" panose="02030504050205020304" pitchFamily="18" charset="0"/>
              </a:rPr>
              <a:t> Facilitate project monitoring and resource management. </a:t>
            </a:r>
          </a:p>
          <a:p>
            <a:pPr>
              <a:lnSpc>
                <a:spcPct val="150000"/>
              </a:lnSpc>
              <a:buFont typeface="+mj-lt"/>
              <a:buAutoNum type="arabicPeriod"/>
            </a:pPr>
            <a:r>
              <a:rPr lang="en-US" sz="2000" dirty="0">
                <a:latin typeface="Centaur" panose="02030504050205020304" pitchFamily="18" charset="0"/>
              </a:rPr>
              <a:t> Improve collaboration among construction stakeholders. </a:t>
            </a:r>
          </a:p>
          <a:p>
            <a:pPr>
              <a:lnSpc>
                <a:spcPct val="150000"/>
              </a:lnSpc>
              <a:buFont typeface="+mj-lt"/>
              <a:buAutoNum type="arabicPeriod"/>
            </a:pPr>
            <a:r>
              <a:rPr lang="en-US" sz="2000" dirty="0">
                <a:latin typeface="Centaur" panose="02030504050205020304" pitchFamily="18" charset="0"/>
              </a:rPr>
              <a:t> Promote simulation-driven decision making.</a:t>
            </a:r>
          </a:p>
        </p:txBody>
      </p:sp>
    </p:spTree>
    <p:extLst>
      <p:ext uri="{BB962C8B-B14F-4D97-AF65-F5344CB8AC3E}">
        <p14:creationId xmlns:p14="http://schemas.microsoft.com/office/powerpoint/2010/main" val="1061783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4FC32E1-9731-2E93-51EF-AB37C5351004}"/>
              </a:ext>
            </a:extLst>
          </p:cNvPr>
          <p:cNvSpPr>
            <a:spLocks noGrp="1"/>
          </p:cNvSpPr>
          <p:nvPr>
            <p:ph type="ftr" sz="quarter" idx="11"/>
          </p:nvPr>
        </p:nvSpPr>
        <p:spPr>
          <a:xfrm>
            <a:off x="1295400" y="6356350"/>
            <a:ext cx="7086600" cy="365125"/>
          </a:xfrm>
        </p:spPr>
        <p:txBody>
          <a:bodyPr/>
          <a:lstStyle/>
          <a:p>
            <a:r>
              <a:rPr lang="en-US" dirty="0"/>
              <a:t>Vishwakarma Institute of Technology, Department of Computer Science of Engineering( Artificial Intelligence)</a:t>
            </a:r>
          </a:p>
        </p:txBody>
      </p:sp>
      <p:sp>
        <p:nvSpPr>
          <p:cNvPr id="3" name="Slide Number Placeholder 2">
            <a:extLst>
              <a:ext uri="{FF2B5EF4-FFF2-40B4-BE49-F238E27FC236}">
                <a16:creationId xmlns:a16="http://schemas.microsoft.com/office/drawing/2014/main" id="{9B27659E-BD60-21D3-B41B-C9CB154E9F6E}"/>
              </a:ext>
            </a:extLst>
          </p:cNvPr>
          <p:cNvSpPr>
            <a:spLocks noGrp="1"/>
          </p:cNvSpPr>
          <p:nvPr>
            <p:ph type="sldNum" sz="quarter" idx="12"/>
          </p:nvPr>
        </p:nvSpPr>
        <p:spPr/>
        <p:txBody>
          <a:bodyPr/>
          <a:lstStyle/>
          <a:p>
            <a:fld id="{B6F15528-21DE-4FAA-801E-634DDDAF4B2B}" type="slidenum">
              <a:rPr lang="en-US" smtClean="0"/>
              <a:pPr/>
              <a:t>8</a:t>
            </a:fld>
            <a:endParaRPr lang="en-US"/>
          </a:p>
        </p:txBody>
      </p:sp>
      <p:sp>
        <p:nvSpPr>
          <p:cNvPr id="4" name="TextBox 3">
            <a:extLst>
              <a:ext uri="{FF2B5EF4-FFF2-40B4-BE49-F238E27FC236}">
                <a16:creationId xmlns:a16="http://schemas.microsoft.com/office/drawing/2014/main" id="{EEB594A6-2201-5F38-9218-F831F69C0C53}"/>
              </a:ext>
            </a:extLst>
          </p:cNvPr>
          <p:cNvSpPr txBox="1"/>
          <p:nvPr/>
        </p:nvSpPr>
        <p:spPr>
          <a:xfrm>
            <a:off x="3484803" y="685800"/>
            <a:ext cx="2707793" cy="738664"/>
          </a:xfrm>
          <a:prstGeom prst="rect">
            <a:avLst/>
          </a:prstGeom>
          <a:noFill/>
        </p:spPr>
        <p:txBody>
          <a:bodyPr wrap="none" rtlCol="0">
            <a:spAutoFit/>
          </a:bodyPr>
          <a:lstStyle/>
          <a:p>
            <a:r>
              <a:rPr lang="en-US" sz="2400" b="1" dirty="0">
                <a:solidFill>
                  <a:schemeClr val="tx2">
                    <a:lumMod val="75000"/>
                  </a:schemeClr>
                </a:solidFill>
                <a:latin typeface="Book Antiqua" panose="02040602050305030304" pitchFamily="18" charset="0"/>
                <a:cs typeface="Times New Roman" panose="02020603050405020304" pitchFamily="18" charset="0"/>
                <a:sym typeface="Canva Sans Bold"/>
              </a:rPr>
              <a:t>Literature Review</a:t>
            </a:r>
          </a:p>
          <a:p>
            <a:endParaRPr lang="en-IN" dirty="0"/>
          </a:p>
        </p:txBody>
      </p:sp>
      <p:graphicFrame>
        <p:nvGraphicFramePr>
          <p:cNvPr id="5" name="Table 4">
            <a:extLst>
              <a:ext uri="{FF2B5EF4-FFF2-40B4-BE49-F238E27FC236}">
                <a16:creationId xmlns:a16="http://schemas.microsoft.com/office/drawing/2014/main" id="{CD01083A-0992-0018-6BD9-47F0CCEB1024}"/>
              </a:ext>
            </a:extLst>
          </p:cNvPr>
          <p:cNvGraphicFramePr>
            <a:graphicFrameLocks noGrp="1"/>
          </p:cNvGraphicFramePr>
          <p:nvPr>
            <p:extLst>
              <p:ext uri="{D42A27DB-BD31-4B8C-83A1-F6EECF244321}">
                <p14:modId xmlns:p14="http://schemas.microsoft.com/office/powerpoint/2010/main" val="1110465680"/>
              </p:ext>
            </p:extLst>
          </p:nvPr>
        </p:nvGraphicFramePr>
        <p:xfrm>
          <a:off x="685800" y="1143000"/>
          <a:ext cx="8458199" cy="5181064"/>
        </p:xfrm>
        <a:graphic>
          <a:graphicData uri="http://schemas.openxmlformats.org/drawingml/2006/table">
            <a:tbl>
              <a:tblPr firstRow="1" bandRow="1">
                <a:tableStyleId>{5C22544A-7EE6-4342-B048-85BDC9FD1C3A}</a:tableStyleId>
              </a:tblPr>
              <a:tblGrid>
                <a:gridCol w="1384068">
                  <a:extLst>
                    <a:ext uri="{9D8B030D-6E8A-4147-A177-3AD203B41FA5}">
                      <a16:colId xmlns:a16="http://schemas.microsoft.com/office/drawing/2014/main" val="2526902640"/>
                    </a:ext>
                  </a:extLst>
                </a:gridCol>
                <a:gridCol w="1537855">
                  <a:extLst>
                    <a:ext uri="{9D8B030D-6E8A-4147-A177-3AD203B41FA5}">
                      <a16:colId xmlns:a16="http://schemas.microsoft.com/office/drawing/2014/main" val="1062001296"/>
                    </a:ext>
                  </a:extLst>
                </a:gridCol>
                <a:gridCol w="1076498">
                  <a:extLst>
                    <a:ext uri="{9D8B030D-6E8A-4147-A177-3AD203B41FA5}">
                      <a16:colId xmlns:a16="http://schemas.microsoft.com/office/drawing/2014/main" val="2608791659"/>
                    </a:ext>
                  </a:extLst>
                </a:gridCol>
                <a:gridCol w="2306782">
                  <a:extLst>
                    <a:ext uri="{9D8B030D-6E8A-4147-A177-3AD203B41FA5}">
                      <a16:colId xmlns:a16="http://schemas.microsoft.com/office/drawing/2014/main" val="2845724949"/>
                    </a:ext>
                  </a:extLst>
                </a:gridCol>
                <a:gridCol w="2152996">
                  <a:extLst>
                    <a:ext uri="{9D8B030D-6E8A-4147-A177-3AD203B41FA5}">
                      <a16:colId xmlns:a16="http://schemas.microsoft.com/office/drawing/2014/main" val="881116626"/>
                    </a:ext>
                  </a:extLst>
                </a:gridCol>
              </a:tblGrid>
              <a:tr h="65947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Title</a:t>
                      </a:r>
                    </a:p>
                    <a:p>
                      <a:pPr algn="ctr"/>
                      <a:endParaRPr lang="en-IN"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Authors</a:t>
                      </a:r>
                    </a:p>
                    <a:p>
                      <a:pPr algn="ctr"/>
                      <a:endParaRPr lang="en-IN"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Year</a:t>
                      </a:r>
                    </a:p>
                    <a:p>
                      <a:pPr algn="ctr"/>
                      <a:endParaRPr lang="en-IN" dirty="0"/>
                    </a:p>
                  </a:txBody>
                  <a:tcPr/>
                </a:tc>
                <a:tc>
                  <a:txBody>
                    <a:bodyPr/>
                    <a:lstStyle/>
                    <a:p>
                      <a:pPr algn="ctr"/>
                      <a:r>
                        <a:rPr lang="en-US" dirty="0"/>
                        <a:t>Findings</a:t>
                      </a:r>
                      <a:endParaRPr lang="en-IN" dirty="0"/>
                    </a:p>
                  </a:txBody>
                  <a:tcPr/>
                </a:tc>
                <a:tc>
                  <a:txBody>
                    <a:bodyPr/>
                    <a:lstStyle/>
                    <a:p>
                      <a:pPr algn="ctr"/>
                      <a:r>
                        <a:rPr lang="en-US" dirty="0"/>
                        <a:t>Research Gap</a:t>
                      </a:r>
                      <a:endParaRPr lang="en-IN" dirty="0"/>
                    </a:p>
                  </a:txBody>
                  <a:tcPr/>
                </a:tc>
                <a:extLst>
                  <a:ext uri="{0D108BD9-81ED-4DB2-BD59-A6C34878D82A}">
                    <a16:rowId xmlns:a16="http://schemas.microsoft.com/office/drawing/2014/main" val="2033916526"/>
                  </a:ext>
                </a:extLst>
              </a:tr>
              <a:tr h="2072646">
                <a:tc>
                  <a:txBody>
                    <a:bodyPr/>
                    <a:lstStyle/>
                    <a:p>
                      <a:pPr marL="0" algn="l" defTabSz="914400" rtl="0" eaLnBrk="1" latinLnBrk="0" hangingPunct="1"/>
                      <a:r>
                        <a:rPr lang="en-US" sz="1800" kern="1200" dirty="0">
                          <a:solidFill>
                            <a:schemeClr val="tx1"/>
                          </a:solidFill>
                          <a:latin typeface="Centaur" panose="02030504050205020304" pitchFamily="18" charset="0"/>
                          <a:ea typeface="+mn-ea"/>
                          <a:cs typeface="+mn-cs"/>
                        </a:rPr>
                        <a:t>AI-Based Construction Project Delay Prediction</a:t>
                      </a:r>
                      <a:endParaRPr lang="en-IN" sz="1800" kern="1200" dirty="0">
                        <a:solidFill>
                          <a:schemeClr val="tx1"/>
                        </a:solidFill>
                        <a:latin typeface="Centaur" panose="02030504050205020304" pitchFamily="18" charset="0"/>
                        <a:ea typeface="+mn-ea"/>
                        <a:cs typeface="+mn-cs"/>
                      </a:endParaRPr>
                    </a:p>
                  </a:txBody>
                  <a:tcPr/>
                </a:tc>
                <a:tc>
                  <a:txBody>
                    <a:bodyPr/>
                    <a:lstStyle/>
                    <a:p>
                      <a:pPr marL="0" algn="l" defTabSz="914400" rtl="0" eaLnBrk="1" latinLnBrk="0" hangingPunct="1"/>
                      <a:r>
                        <a:rPr lang="en-IN" sz="1800" kern="1200" dirty="0" err="1">
                          <a:solidFill>
                            <a:schemeClr val="tx1"/>
                          </a:solidFill>
                          <a:latin typeface="Centaur" panose="02030504050205020304" pitchFamily="18" charset="0"/>
                          <a:ea typeface="+mn-ea"/>
                          <a:cs typeface="+mn-cs"/>
                        </a:rPr>
                        <a:t>Egwim</a:t>
                      </a:r>
                      <a:r>
                        <a:rPr lang="en-IN" sz="1800" kern="1200" dirty="0">
                          <a:solidFill>
                            <a:schemeClr val="tx1"/>
                          </a:solidFill>
                          <a:latin typeface="Centaur" panose="02030504050205020304" pitchFamily="18" charset="0"/>
                          <a:ea typeface="+mn-ea"/>
                          <a:cs typeface="+mn-cs"/>
                        </a:rPr>
                        <a:t> et al.</a:t>
                      </a:r>
                    </a:p>
                  </a:txBody>
                  <a:tcPr/>
                </a:tc>
                <a:tc>
                  <a:txBody>
                    <a:bodyPr/>
                    <a:lstStyle/>
                    <a:p>
                      <a:pPr marL="0" algn="l" defTabSz="914400" rtl="0" eaLnBrk="1" latinLnBrk="0" hangingPunct="1"/>
                      <a:r>
                        <a:rPr lang="en-IN" sz="1800" kern="1200" dirty="0">
                          <a:solidFill>
                            <a:schemeClr val="tx1"/>
                          </a:solidFill>
                          <a:latin typeface="Centaur" panose="02030504050205020304" pitchFamily="18" charset="0"/>
                          <a:ea typeface="+mn-ea"/>
                          <a:cs typeface="+mn-cs"/>
                        </a:rPr>
                        <a:t>2021</a:t>
                      </a:r>
                    </a:p>
                  </a:txBody>
                  <a:tcPr/>
                </a:tc>
                <a:tc>
                  <a:txBody>
                    <a:bodyPr/>
                    <a:lstStyle/>
                    <a:p>
                      <a:pPr marL="0" algn="l" defTabSz="914400" rtl="0" eaLnBrk="1" latinLnBrk="0" hangingPunct="1"/>
                      <a:r>
                        <a:rPr lang="en-US" sz="1800" kern="1200" dirty="0">
                          <a:solidFill>
                            <a:schemeClr val="tx1"/>
                          </a:solidFill>
                          <a:latin typeface="Centaur" panose="02030504050205020304" pitchFamily="18" charset="0"/>
                          <a:ea typeface="+mn-ea"/>
                          <a:cs typeface="+mn-cs"/>
                        </a:rPr>
                        <a:t>Machine learning models can predict construction delays using project parameters such as labor availability, material delivery, and project complexity.</a:t>
                      </a:r>
                      <a:endParaRPr lang="en-IN" sz="1800" kern="1200" dirty="0">
                        <a:solidFill>
                          <a:schemeClr val="tx1"/>
                        </a:solidFill>
                        <a:latin typeface="Centaur" panose="02030504050205020304" pitchFamily="18" charset="0"/>
                        <a:ea typeface="+mn-ea"/>
                        <a:cs typeface="+mn-cs"/>
                      </a:endParaRPr>
                    </a:p>
                  </a:txBody>
                  <a:tcPr/>
                </a:tc>
                <a:tc>
                  <a:txBody>
                    <a:bodyPr/>
                    <a:lstStyle/>
                    <a:p>
                      <a:pPr marL="0" algn="l" defTabSz="914400" rtl="0" eaLnBrk="1" latinLnBrk="0" hangingPunct="1"/>
                      <a:r>
                        <a:rPr lang="en-US" sz="1800" kern="1200" dirty="0">
                          <a:solidFill>
                            <a:schemeClr val="tx1"/>
                          </a:solidFill>
                          <a:latin typeface="Centaur" panose="02030504050205020304" pitchFamily="18" charset="0"/>
                          <a:ea typeface="+mn-ea"/>
                          <a:cs typeface="+mn-cs"/>
                        </a:rPr>
                        <a:t>Focuses only on delay prediction models and lacks integration with interactive construction planning or visualization platforms.</a:t>
                      </a:r>
                      <a:endParaRPr lang="en-IN" sz="1800" kern="1200" dirty="0">
                        <a:solidFill>
                          <a:schemeClr val="tx1"/>
                        </a:solidFill>
                        <a:latin typeface="Centaur" panose="02030504050205020304" pitchFamily="18" charset="0"/>
                        <a:ea typeface="+mn-ea"/>
                        <a:cs typeface="+mn-cs"/>
                      </a:endParaRPr>
                    </a:p>
                  </a:txBody>
                  <a:tcPr/>
                </a:tc>
                <a:extLst>
                  <a:ext uri="{0D108BD9-81ED-4DB2-BD59-A6C34878D82A}">
                    <a16:rowId xmlns:a16="http://schemas.microsoft.com/office/drawing/2014/main" val="2282210990"/>
                  </a:ext>
                </a:extLst>
              </a:tr>
              <a:tr h="2448940">
                <a:tc>
                  <a:txBody>
                    <a:bodyPr/>
                    <a:lstStyle/>
                    <a:p>
                      <a:r>
                        <a:rPr lang="en-US" sz="1800" kern="1200" dirty="0">
                          <a:solidFill>
                            <a:schemeClr val="tx1"/>
                          </a:solidFill>
                          <a:latin typeface="Centaur" panose="02030504050205020304" pitchFamily="18" charset="0"/>
                          <a:ea typeface="+mn-ea"/>
                          <a:cs typeface="+mn-cs"/>
                        </a:rPr>
                        <a:t>BIM-Based Construction Simulation for Project Monitoring</a:t>
                      </a:r>
                      <a:endParaRPr lang="en-IN" sz="1800" kern="1200" dirty="0">
                        <a:solidFill>
                          <a:schemeClr val="tx1"/>
                        </a:solidFill>
                        <a:latin typeface="Centaur" panose="02030504050205020304" pitchFamily="18" charset="0"/>
                        <a:ea typeface="+mn-ea"/>
                        <a:cs typeface="+mn-cs"/>
                      </a:endParaRPr>
                    </a:p>
                  </a:txBody>
                  <a:tcPr/>
                </a:tc>
                <a:tc>
                  <a:txBody>
                    <a:bodyPr/>
                    <a:lstStyle/>
                    <a:p>
                      <a:r>
                        <a:rPr lang="en-IN" sz="1800" kern="1200" dirty="0">
                          <a:solidFill>
                            <a:schemeClr val="tx1"/>
                          </a:solidFill>
                          <a:latin typeface="Centaur" panose="02030504050205020304" pitchFamily="18" charset="0"/>
                          <a:ea typeface="+mn-ea"/>
                          <a:cs typeface="+mn-cs"/>
                        </a:rPr>
                        <a:t>Kropp et al.</a:t>
                      </a:r>
                    </a:p>
                  </a:txBody>
                  <a:tcPr/>
                </a:tc>
                <a:tc>
                  <a:txBody>
                    <a:bodyPr/>
                    <a:lstStyle/>
                    <a:p>
                      <a:r>
                        <a:rPr lang="en-IN" sz="1800" kern="1200" dirty="0">
                          <a:solidFill>
                            <a:schemeClr val="tx1"/>
                          </a:solidFill>
                          <a:latin typeface="Centaur" panose="02030504050205020304" pitchFamily="18" charset="0"/>
                          <a:ea typeface="+mn-ea"/>
                          <a:cs typeface="+mn-cs"/>
                        </a:rPr>
                        <a:t>2019</a:t>
                      </a:r>
                    </a:p>
                  </a:txBody>
                  <a:tcPr/>
                </a:tc>
                <a:tc>
                  <a:txBody>
                    <a:bodyPr/>
                    <a:lstStyle/>
                    <a:p>
                      <a:r>
                        <a:rPr lang="en-US" sz="1800" kern="1200" dirty="0">
                          <a:solidFill>
                            <a:schemeClr val="tx1"/>
                          </a:solidFill>
                          <a:latin typeface="Centaur" panose="02030504050205020304" pitchFamily="18" charset="0"/>
                          <a:ea typeface="+mn-ea"/>
                          <a:cs typeface="+mn-cs"/>
                        </a:rPr>
                        <a:t>BIM-based systems enable digital monitoring of construction progress and help identify schedule deviations.</a:t>
                      </a:r>
                      <a:endParaRPr lang="en-IN" sz="1800" kern="1200" dirty="0">
                        <a:solidFill>
                          <a:schemeClr val="tx1"/>
                        </a:solidFill>
                        <a:latin typeface="Centaur" panose="02030504050205020304" pitchFamily="18" charset="0"/>
                        <a:ea typeface="+mn-ea"/>
                        <a:cs typeface="+mn-cs"/>
                      </a:endParaRPr>
                    </a:p>
                  </a:txBody>
                  <a:tcPr/>
                </a:tc>
                <a:tc>
                  <a:txBody>
                    <a:bodyPr/>
                    <a:lstStyle/>
                    <a:p>
                      <a:r>
                        <a:rPr lang="en-US" sz="1800" kern="1200" dirty="0">
                          <a:solidFill>
                            <a:schemeClr val="tx1"/>
                          </a:solidFill>
                          <a:latin typeface="Centaur" panose="02030504050205020304" pitchFamily="18" charset="0"/>
                          <a:ea typeface="+mn-ea"/>
                          <a:cs typeface="+mn-cs"/>
                        </a:rPr>
                        <a:t>Requires real-time site data and complex infrastructure, making it difficult to use for early-stage planning or educational environments.</a:t>
                      </a:r>
                      <a:endParaRPr lang="en-IN" sz="1800" kern="1200" dirty="0">
                        <a:solidFill>
                          <a:schemeClr val="tx1"/>
                        </a:solidFill>
                        <a:latin typeface="Centaur" panose="02030504050205020304" pitchFamily="18" charset="0"/>
                        <a:ea typeface="+mn-ea"/>
                        <a:cs typeface="+mn-cs"/>
                      </a:endParaRPr>
                    </a:p>
                  </a:txBody>
                  <a:tcPr/>
                </a:tc>
                <a:extLst>
                  <a:ext uri="{0D108BD9-81ED-4DB2-BD59-A6C34878D82A}">
                    <a16:rowId xmlns:a16="http://schemas.microsoft.com/office/drawing/2014/main" val="2433841541"/>
                  </a:ext>
                </a:extLst>
              </a:tr>
            </a:tbl>
          </a:graphicData>
        </a:graphic>
      </p:graphicFrame>
    </p:spTree>
    <p:extLst>
      <p:ext uri="{BB962C8B-B14F-4D97-AF65-F5344CB8AC3E}">
        <p14:creationId xmlns:p14="http://schemas.microsoft.com/office/powerpoint/2010/main" val="33006304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6817E-B21C-C6A8-CF83-C4843468D6B7}"/>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F79069ED-4C5A-FE29-28C5-AC5DCF2E6E0A}"/>
              </a:ext>
            </a:extLst>
          </p:cNvPr>
          <p:cNvSpPr>
            <a:spLocks noGrp="1"/>
          </p:cNvSpPr>
          <p:nvPr>
            <p:ph type="ftr" sz="quarter" idx="11"/>
          </p:nvPr>
        </p:nvSpPr>
        <p:spPr>
          <a:xfrm>
            <a:off x="1295400" y="6356350"/>
            <a:ext cx="7086600" cy="365125"/>
          </a:xfrm>
        </p:spPr>
        <p:txBody>
          <a:bodyPr/>
          <a:lstStyle/>
          <a:p>
            <a:r>
              <a:rPr lang="en-US" dirty="0"/>
              <a:t>Vishwakarma Institute of Technology, Department of Computer Science of Engineering( Artificial Intelligence)</a:t>
            </a:r>
          </a:p>
        </p:txBody>
      </p:sp>
      <p:sp>
        <p:nvSpPr>
          <p:cNvPr id="3" name="Slide Number Placeholder 2">
            <a:extLst>
              <a:ext uri="{FF2B5EF4-FFF2-40B4-BE49-F238E27FC236}">
                <a16:creationId xmlns:a16="http://schemas.microsoft.com/office/drawing/2014/main" id="{59B6A929-0B15-1D41-12BA-266F8CCB27F5}"/>
              </a:ext>
            </a:extLst>
          </p:cNvPr>
          <p:cNvSpPr>
            <a:spLocks noGrp="1"/>
          </p:cNvSpPr>
          <p:nvPr>
            <p:ph type="sldNum" sz="quarter" idx="12"/>
          </p:nvPr>
        </p:nvSpPr>
        <p:spPr/>
        <p:txBody>
          <a:bodyPr/>
          <a:lstStyle/>
          <a:p>
            <a:fld id="{B6F15528-21DE-4FAA-801E-634DDDAF4B2B}" type="slidenum">
              <a:rPr lang="en-US" smtClean="0"/>
              <a:pPr/>
              <a:t>9</a:t>
            </a:fld>
            <a:endParaRPr lang="en-US"/>
          </a:p>
        </p:txBody>
      </p:sp>
      <p:sp>
        <p:nvSpPr>
          <p:cNvPr id="4" name="TextBox 3">
            <a:extLst>
              <a:ext uri="{FF2B5EF4-FFF2-40B4-BE49-F238E27FC236}">
                <a16:creationId xmlns:a16="http://schemas.microsoft.com/office/drawing/2014/main" id="{FB216EB6-2557-2C3C-11B9-B2BAB5DA9039}"/>
              </a:ext>
            </a:extLst>
          </p:cNvPr>
          <p:cNvSpPr txBox="1"/>
          <p:nvPr/>
        </p:nvSpPr>
        <p:spPr>
          <a:xfrm>
            <a:off x="3484803" y="685800"/>
            <a:ext cx="2707793" cy="738664"/>
          </a:xfrm>
          <a:prstGeom prst="rect">
            <a:avLst/>
          </a:prstGeom>
          <a:noFill/>
        </p:spPr>
        <p:txBody>
          <a:bodyPr wrap="none" rtlCol="0">
            <a:spAutoFit/>
          </a:bodyPr>
          <a:lstStyle/>
          <a:p>
            <a:r>
              <a:rPr lang="en-US" sz="2400" b="1" dirty="0">
                <a:solidFill>
                  <a:schemeClr val="tx2">
                    <a:lumMod val="75000"/>
                  </a:schemeClr>
                </a:solidFill>
                <a:latin typeface="Book Antiqua" panose="02040602050305030304" pitchFamily="18" charset="0"/>
                <a:cs typeface="Times New Roman" panose="02020603050405020304" pitchFamily="18" charset="0"/>
                <a:sym typeface="Canva Sans Bold"/>
              </a:rPr>
              <a:t>Literature Review</a:t>
            </a:r>
          </a:p>
          <a:p>
            <a:endParaRPr lang="en-IN" dirty="0"/>
          </a:p>
        </p:txBody>
      </p:sp>
      <p:graphicFrame>
        <p:nvGraphicFramePr>
          <p:cNvPr id="5" name="Table 4">
            <a:extLst>
              <a:ext uri="{FF2B5EF4-FFF2-40B4-BE49-F238E27FC236}">
                <a16:creationId xmlns:a16="http://schemas.microsoft.com/office/drawing/2014/main" id="{D65EB94E-F933-B566-B2C7-8D88EA49CB9B}"/>
              </a:ext>
            </a:extLst>
          </p:cNvPr>
          <p:cNvGraphicFramePr>
            <a:graphicFrameLocks noGrp="1"/>
          </p:cNvGraphicFramePr>
          <p:nvPr>
            <p:extLst>
              <p:ext uri="{D42A27DB-BD31-4B8C-83A1-F6EECF244321}">
                <p14:modId xmlns:p14="http://schemas.microsoft.com/office/powerpoint/2010/main" val="3934474244"/>
              </p:ext>
            </p:extLst>
          </p:nvPr>
        </p:nvGraphicFramePr>
        <p:xfrm>
          <a:off x="685800" y="1143000"/>
          <a:ext cx="8458199" cy="5181064"/>
        </p:xfrm>
        <a:graphic>
          <a:graphicData uri="http://schemas.openxmlformats.org/drawingml/2006/table">
            <a:tbl>
              <a:tblPr firstRow="1" bandRow="1">
                <a:tableStyleId>{5C22544A-7EE6-4342-B048-85BDC9FD1C3A}</a:tableStyleId>
              </a:tblPr>
              <a:tblGrid>
                <a:gridCol w="1384068">
                  <a:extLst>
                    <a:ext uri="{9D8B030D-6E8A-4147-A177-3AD203B41FA5}">
                      <a16:colId xmlns:a16="http://schemas.microsoft.com/office/drawing/2014/main" val="2526902640"/>
                    </a:ext>
                  </a:extLst>
                </a:gridCol>
                <a:gridCol w="1537855">
                  <a:extLst>
                    <a:ext uri="{9D8B030D-6E8A-4147-A177-3AD203B41FA5}">
                      <a16:colId xmlns:a16="http://schemas.microsoft.com/office/drawing/2014/main" val="1062001296"/>
                    </a:ext>
                  </a:extLst>
                </a:gridCol>
                <a:gridCol w="1076498">
                  <a:extLst>
                    <a:ext uri="{9D8B030D-6E8A-4147-A177-3AD203B41FA5}">
                      <a16:colId xmlns:a16="http://schemas.microsoft.com/office/drawing/2014/main" val="2608791659"/>
                    </a:ext>
                  </a:extLst>
                </a:gridCol>
                <a:gridCol w="2306782">
                  <a:extLst>
                    <a:ext uri="{9D8B030D-6E8A-4147-A177-3AD203B41FA5}">
                      <a16:colId xmlns:a16="http://schemas.microsoft.com/office/drawing/2014/main" val="2845724949"/>
                    </a:ext>
                  </a:extLst>
                </a:gridCol>
                <a:gridCol w="2152996">
                  <a:extLst>
                    <a:ext uri="{9D8B030D-6E8A-4147-A177-3AD203B41FA5}">
                      <a16:colId xmlns:a16="http://schemas.microsoft.com/office/drawing/2014/main" val="881116626"/>
                    </a:ext>
                  </a:extLst>
                </a:gridCol>
              </a:tblGrid>
              <a:tr h="65947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latin typeface="Centaur" panose="02030504050205020304" pitchFamily="18" charset="0"/>
                        </a:rPr>
                        <a:t>Title</a:t>
                      </a:r>
                    </a:p>
                    <a:p>
                      <a:pPr algn="ctr"/>
                      <a:endParaRPr lang="en-IN" dirty="0">
                        <a:latin typeface="Centaur" panose="020305040502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latin typeface="Centaur" panose="02030504050205020304" pitchFamily="18" charset="0"/>
                        </a:rPr>
                        <a:t>Authors</a:t>
                      </a:r>
                    </a:p>
                    <a:p>
                      <a:pPr algn="ctr"/>
                      <a:endParaRPr lang="en-IN" dirty="0">
                        <a:latin typeface="Centaur" panose="020305040502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latin typeface="Centaur" panose="02030504050205020304" pitchFamily="18" charset="0"/>
                        </a:rPr>
                        <a:t>Year</a:t>
                      </a:r>
                    </a:p>
                    <a:p>
                      <a:pPr algn="ctr"/>
                      <a:endParaRPr lang="en-IN" dirty="0">
                        <a:latin typeface="Centaur" panose="02030504050205020304" pitchFamily="18" charset="0"/>
                      </a:endParaRPr>
                    </a:p>
                  </a:txBody>
                  <a:tcPr/>
                </a:tc>
                <a:tc>
                  <a:txBody>
                    <a:bodyPr/>
                    <a:lstStyle/>
                    <a:p>
                      <a:pPr algn="ctr"/>
                      <a:r>
                        <a:rPr lang="en-US" dirty="0">
                          <a:latin typeface="Centaur" panose="02030504050205020304" pitchFamily="18" charset="0"/>
                        </a:rPr>
                        <a:t>Findings</a:t>
                      </a:r>
                      <a:endParaRPr lang="en-IN" dirty="0">
                        <a:latin typeface="Centaur" panose="02030504050205020304" pitchFamily="18" charset="0"/>
                      </a:endParaRPr>
                    </a:p>
                  </a:txBody>
                  <a:tcPr/>
                </a:tc>
                <a:tc>
                  <a:txBody>
                    <a:bodyPr/>
                    <a:lstStyle/>
                    <a:p>
                      <a:pPr algn="ctr"/>
                      <a:r>
                        <a:rPr lang="en-US" dirty="0">
                          <a:latin typeface="Centaur" panose="02030504050205020304" pitchFamily="18" charset="0"/>
                        </a:rPr>
                        <a:t>Research Gap</a:t>
                      </a:r>
                      <a:endParaRPr lang="en-IN" dirty="0">
                        <a:latin typeface="Centaur" panose="02030504050205020304" pitchFamily="18" charset="0"/>
                      </a:endParaRPr>
                    </a:p>
                  </a:txBody>
                  <a:tcPr/>
                </a:tc>
                <a:extLst>
                  <a:ext uri="{0D108BD9-81ED-4DB2-BD59-A6C34878D82A}">
                    <a16:rowId xmlns:a16="http://schemas.microsoft.com/office/drawing/2014/main" val="2033916526"/>
                  </a:ext>
                </a:extLst>
              </a:tr>
              <a:tr h="2072646">
                <a:tc>
                  <a:txBody>
                    <a:bodyPr/>
                    <a:lstStyle/>
                    <a:p>
                      <a:pPr marL="0" algn="l" defTabSz="914400" rtl="0" eaLnBrk="1" latinLnBrk="0" hangingPunct="1"/>
                      <a:r>
                        <a:rPr lang="en-US" dirty="0">
                          <a:latin typeface="Centaur" panose="02030504050205020304" pitchFamily="18" charset="0"/>
                        </a:rPr>
                        <a:t>Enhanced Clash Detection in Building Information Modeling</a:t>
                      </a:r>
                      <a:endParaRPr lang="en-IN" sz="1800" kern="1200" dirty="0">
                        <a:solidFill>
                          <a:schemeClr val="tx1"/>
                        </a:solidFill>
                        <a:latin typeface="Centaur" panose="02030504050205020304" pitchFamily="18" charset="0"/>
                        <a:ea typeface="+mn-ea"/>
                        <a:cs typeface="+mn-cs"/>
                      </a:endParaRPr>
                    </a:p>
                  </a:txBody>
                  <a:tcPr/>
                </a:tc>
                <a:tc>
                  <a:txBody>
                    <a:bodyPr/>
                    <a:lstStyle/>
                    <a:p>
                      <a:pPr marL="0" algn="l" defTabSz="914400" rtl="0" eaLnBrk="1" latinLnBrk="0" hangingPunct="1"/>
                      <a:r>
                        <a:rPr lang="en-IN" dirty="0">
                          <a:latin typeface="Centaur" panose="02030504050205020304" pitchFamily="18" charset="0"/>
                        </a:rPr>
                        <a:t>Shehadeh</a:t>
                      </a:r>
                      <a:endParaRPr lang="en-IN" sz="1800" kern="1200" dirty="0">
                        <a:solidFill>
                          <a:schemeClr val="tx1"/>
                        </a:solidFill>
                        <a:latin typeface="Centaur" panose="02030504050205020304" pitchFamily="18" charset="0"/>
                        <a:ea typeface="+mn-ea"/>
                        <a:cs typeface="+mn-cs"/>
                      </a:endParaRPr>
                    </a:p>
                  </a:txBody>
                  <a:tcPr/>
                </a:tc>
                <a:tc>
                  <a:txBody>
                    <a:bodyPr/>
                    <a:lstStyle/>
                    <a:p>
                      <a:pPr marL="0" algn="l" defTabSz="914400" rtl="0" eaLnBrk="1" latinLnBrk="0" hangingPunct="1"/>
                      <a:r>
                        <a:rPr lang="en-IN" dirty="0">
                          <a:latin typeface="Centaur" panose="02030504050205020304" pitchFamily="18" charset="0"/>
                        </a:rPr>
                        <a:t>2024</a:t>
                      </a:r>
                      <a:endParaRPr lang="en-IN" sz="1800" kern="1200" dirty="0">
                        <a:solidFill>
                          <a:schemeClr val="tx1"/>
                        </a:solidFill>
                        <a:latin typeface="Centaur" panose="02030504050205020304" pitchFamily="18" charset="0"/>
                        <a:ea typeface="+mn-ea"/>
                        <a:cs typeface="+mn-cs"/>
                      </a:endParaRPr>
                    </a:p>
                  </a:txBody>
                  <a:tcPr/>
                </a:tc>
                <a:tc>
                  <a:txBody>
                    <a:bodyPr/>
                    <a:lstStyle/>
                    <a:p>
                      <a:pPr marL="0" algn="l" defTabSz="914400" rtl="0" eaLnBrk="1" latinLnBrk="0" hangingPunct="1"/>
                      <a:r>
                        <a:rPr lang="en-US" dirty="0">
                          <a:latin typeface="Centaur" panose="02030504050205020304" pitchFamily="18" charset="0"/>
                        </a:rPr>
                        <a:t>Automated systems can detect structural clashes between building components, improving coordination between design elements.</a:t>
                      </a:r>
                      <a:endParaRPr lang="en-IN" sz="1800" kern="1200" dirty="0">
                        <a:solidFill>
                          <a:schemeClr val="tx1"/>
                        </a:solidFill>
                        <a:latin typeface="Centaur" panose="02030504050205020304" pitchFamily="18" charset="0"/>
                        <a:ea typeface="+mn-ea"/>
                        <a:cs typeface="+mn-cs"/>
                      </a:endParaRPr>
                    </a:p>
                  </a:txBody>
                  <a:tcPr/>
                </a:tc>
                <a:tc>
                  <a:txBody>
                    <a:bodyPr/>
                    <a:lstStyle/>
                    <a:p>
                      <a:pPr marL="0" algn="l" defTabSz="914400" rtl="0" eaLnBrk="1" latinLnBrk="0" hangingPunct="1"/>
                      <a:r>
                        <a:rPr lang="en-US" dirty="0">
                          <a:latin typeface="Centaur" panose="02030504050205020304" pitchFamily="18" charset="0"/>
                        </a:rPr>
                        <a:t>Existing systems produce large numbers of clash reports but lack integrated simulation and visualization for better interpretation.</a:t>
                      </a:r>
                      <a:endParaRPr lang="en-IN" sz="1800" kern="1200" dirty="0">
                        <a:solidFill>
                          <a:schemeClr val="tx1"/>
                        </a:solidFill>
                        <a:latin typeface="Centaur" panose="02030504050205020304" pitchFamily="18" charset="0"/>
                        <a:ea typeface="+mn-ea"/>
                        <a:cs typeface="+mn-cs"/>
                      </a:endParaRPr>
                    </a:p>
                  </a:txBody>
                  <a:tcPr/>
                </a:tc>
                <a:extLst>
                  <a:ext uri="{0D108BD9-81ED-4DB2-BD59-A6C34878D82A}">
                    <a16:rowId xmlns:a16="http://schemas.microsoft.com/office/drawing/2014/main" val="2282210990"/>
                  </a:ext>
                </a:extLst>
              </a:tr>
              <a:tr h="2448940">
                <a:tc>
                  <a:txBody>
                    <a:bodyPr/>
                    <a:lstStyle/>
                    <a:p>
                      <a:r>
                        <a:rPr lang="en-US" dirty="0">
                          <a:latin typeface="Centaur" panose="02030504050205020304" pitchFamily="18" charset="0"/>
                        </a:rPr>
                        <a:t>Impact of BIM Applications on Construction Delays and Cost Overruns</a:t>
                      </a:r>
                      <a:endParaRPr lang="en-IN" sz="1800" kern="1200" dirty="0">
                        <a:solidFill>
                          <a:schemeClr val="tx1"/>
                        </a:solidFill>
                        <a:latin typeface="Centaur" panose="02030504050205020304" pitchFamily="18" charset="0"/>
                        <a:ea typeface="+mn-ea"/>
                        <a:cs typeface="+mn-cs"/>
                      </a:endParaRPr>
                    </a:p>
                  </a:txBody>
                  <a:tcPr/>
                </a:tc>
                <a:tc>
                  <a:txBody>
                    <a:bodyPr/>
                    <a:lstStyle/>
                    <a:p>
                      <a:r>
                        <a:rPr lang="en-IN" dirty="0">
                          <a:latin typeface="Centaur" panose="02030504050205020304" pitchFamily="18" charset="0"/>
                        </a:rPr>
                        <a:t>Ahmed et al.</a:t>
                      </a:r>
                      <a:endParaRPr lang="en-IN" sz="1800" kern="1200" dirty="0">
                        <a:solidFill>
                          <a:schemeClr val="tx1"/>
                        </a:solidFill>
                        <a:latin typeface="Centaur" panose="02030504050205020304" pitchFamily="18" charset="0"/>
                        <a:ea typeface="+mn-ea"/>
                        <a:cs typeface="+mn-cs"/>
                      </a:endParaRPr>
                    </a:p>
                  </a:txBody>
                  <a:tcPr/>
                </a:tc>
                <a:tc>
                  <a:txBody>
                    <a:bodyPr/>
                    <a:lstStyle/>
                    <a:p>
                      <a:r>
                        <a:rPr lang="en-IN" dirty="0">
                          <a:latin typeface="Centaur" panose="02030504050205020304" pitchFamily="18" charset="0"/>
                        </a:rPr>
                        <a:t>2020</a:t>
                      </a:r>
                      <a:endParaRPr lang="en-IN" sz="1800" kern="1200" dirty="0">
                        <a:solidFill>
                          <a:schemeClr val="tx1"/>
                        </a:solidFill>
                        <a:latin typeface="Centaur" panose="02030504050205020304" pitchFamily="18" charset="0"/>
                        <a:ea typeface="+mn-ea"/>
                        <a:cs typeface="+mn-cs"/>
                      </a:endParaRPr>
                    </a:p>
                  </a:txBody>
                  <a:tcPr/>
                </a:tc>
                <a:tc>
                  <a:txBody>
                    <a:bodyPr/>
                    <a:lstStyle/>
                    <a:p>
                      <a:r>
                        <a:rPr lang="en-US" dirty="0">
                          <a:latin typeface="Centaur" panose="02030504050205020304" pitchFamily="18" charset="0"/>
                        </a:rPr>
                        <a:t>BIM technology improves coordination among stakeholders and reduces project delays and cost overruns.</a:t>
                      </a:r>
                      <a:endParaRPr lang="en-IN" sz="1800" kern="1200" dirty="0">
                        <a:solidFill>
                          <a:schemeClr val="tx1"/>
                        </a:solidFill>
                        <a:latin typeface="Centaur" panose="02030504050205020304" pitchFamily="18" charset="0"/>
                        <a:ea typeface="+mn-ea"/>
                        <a:cs typeface="+mn-cs"/>
                      </a:endParaRPr>
                    </a:p>
                  </a:txBody>
                  <a:tcPr/>
                </a:tc>
                <a:tc>
                  <a:txBody>
                    <a:bodyPr/>
                    <a:lstStyle/>
                    <a:p>
                      <a:r>
                        <a:rPr lang="en-US" dirty="0">
                          <a:latin typeface="Centaur" panose="02030504050205020304" pitchFamily="18" charset="0"/>
                        </a:rPr>
                        <a:t>Many BIM platforms are complex enterprise tools and are not easily accessible for smaller teams or academic use.</a:t>
                      </a:r>
                      <a:endParaRPr lang="en-IN" sz="1800" kern="1200" dirty="0">
                        <a:solidFill>
                          <a:schemeClr val="tx1"/>
                        </a:solidFill>
                        <a:latin typeface="Centaur" panose="02030504050205020304" pitchFamily="18" charset="0"/>
                        <a:ea typeface="+mn-ea"/>
                        <a:cs typeface="+mn-cs"/>
                      </a:endParaRPr>
                    </a:p>
                  </a:txBody>
                  <a:tcPr/>
                </a:tc>
                <a:extLst>
                  <a:ext uri="{0D108BD9-81ED-4DB2-BD59-A6C34878D82A}">
                    <a16:rowId xmlns:a16="http://schemas.microsoft.com/office/drawing/2014/main" val="2433841541"/>
                  </a:ext>
                </a:extLst>
              </a:tr>
            </a:tbl>
          </a:graphicData>
        </a:graphic>
      </p:graphicFrame>
    </p:spTree>
    <p:extLst>
      <p:ext uri="{BB962C8B-B14F-4D97-AF65-F5344CB8AC3E}">
        <p14:creationId xmlns:p14="http://schemas.microsoft.com/office/powerpoint/2010/main" val="11199486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812EB69-B5CE-FCF6-A20A-A22F7EF4B766}"/>
              </a:ext>
            </a:extLst>
          </p:cNvPr>
          <p:cNvSpPr>
            <a:spLocks noGrp="1"/>
          </p:cNvSpPr>
          <p:nvPr>
            <p:ph type="ftr" sz="quarter" idx="11"/>
          </p:nvPr>
        </p:nvSpPr>
        <p:spPr>
          <a:xfrm>
            <a:off x="1295400" y="6356350"/>
            <a:ext cx="7162800" cy="365125"/>
          </a:xfrm>
        </p:spPr>
        <p:txBody>
          <a:bodyPr/>
          <a:lstStyle/>
          <a:p>
            <a:r>
              <a:rPr lang="en-US" dirty="0"/>
              <a:t>Vishwakarma Institute of Technology, Department of Computer Science of Engineering( Artificial Intelligence)</a:t>
            </a:r>
          </a:p>
        </p:txBody>
      </p:sp>
      <p:sp>
        <p:nvSpPr>
          <p:cNvPr id="3" name="Slide Number Placeholder 2">
            <a:extLst>
              <a:ext uri="{FF2B5EF4-FFF2-40B4-BE49-F238E27FC236}">
                <a16:creationId xmlns:a16="http://schemas.microsoft.com/office/drawing/2014/main" id="{FF315D69-ACAF-3EC0-84EB-49576CCF64D3}"/>
              </a:ext>
            </a:extLst>
          </p:cNvPr>
          <p:cNvSpPr>
            <a:spLocks noGrp="1"/>
          </p:cNvSpPr>
          <p:nvPr>
            <p:ph type="sldNum" sz="quarter" idx="12"/>
          </p:nvPr>
        </p:nvSpPr>
        <p:spPr/>
        <p:txBody>
          <a:bodyPr/>
          <a:lstStyle/>
          <a:p>
            <a:fld id="{B6F15528-21DE-4FAA-801E-634DDDAF4B2B}" type="slidenum">
              <a:rPr lang="en-US" smtClean="0"/>
              <a:pPr/>
              <a:t>10</a:t>
            </a:fld>
            <a:endParaRPr lang="en-US"/>
          </a:p>
        </p:txBody>
      </p:sp>
      <p:pic>
        <p:nvPicPr>
          <p:cNvPr id="6" name="Picture 5">
            <a:extLst>
              <a:ext uri="{FF2B5EF4-FFF2-40B4-BE49-F238E27FC236}">
                <a16:creationId xmlns:a16="http://schemas.microsoft.com/office/drawing/2014/main" id="{BDC3F663-E773-5704-6B52-7EB9FBF3C8CA}"/>
              </a:ext>
            </a:extLst>
          </p:cNvPr>
          <p:cNvPicPr>
            <a:picLocks noChangeAspect="1"/>
          </p:cNvPicPr>
          <p:nvPr/>
        </p:nvPicPr>
        <p:blipFill>
          <a:blip r:embed="rId2"/>
          <a:stretch>
            <a:fillRect/>
          </a:stretch>
        </p:blipFill>
        <p:spPr>
          <a:xfrm>
            <a:off x="914400" y="990600"/>
            <a:ext cx="7924800" cy="5283200"/>
          </a:xfrm>
          <a:prstGeom prst="rect">
            <a:avLst/>
          </a:prstGeom>
        </p:spPr>
      </p:pic>
    </p:spTree>
    <p:extLst>
      <p:ext uri="{BB962C8B-B14F-4D97-AF65-F5344CB8AC3E}">
        <p14:creationId xmlns:p14="http://schemas.microsoft.com/office/powerpoint/2010/main" val="36224367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35550A3-54E6-00B5-C880-8E9C24B807EF}"/>
              </a:ext>
            </a:extLst>
          </p:cNvPr>
          <p:cNvSpPr>
            <a:spLocks noGrp="1"/>
          </p:cNvSpPr>
          <p:nvPr>
            <p:ph type="ftr" sz="quarter" idx="11"/>
          </p:nvPr>
        </p:nvSpPr>
        <p:spPr>
          <a:xfrm>
            <a:off x="1371600" y="6356350"/>
            <a:ext cx="7010400" cy="365125"/>
          </a:xfrm>
        </p:spPr>
        <p:txBody>
          <a:bodyPr/>
          <a:lstStyle/>
          <a:p>
            <a:r>
              <a:rPr lang="en-US" dirty="0"/>
              <a:t>Vishwakarma Institute of Technology, Department of Computer Science of Engineering( Artificial Intelligence)</a:t>
            </a:r>
          </a:p>
        </p:txBody>
      </p:sp>
      <p:sp>
        <p:nvSpPr>
          <p:cNvPr id="3" name="Slide Number Placeholder 2">
            <a:extLst>
              <a:ext uri="{FF2B5EF4-FFF2-40B4-BE49-F238E27FC236}">
                <a16:creationId xmlns:a16="http://schemas.microsoft.com/office/drawing/2014/main" id="{2B4A973B-A449-95B0-1B4B-B7235C3EABBD}"/>
              </a:ext>
            </a:extLst>
          </p:cNvPr>
          <p:cNvSpPr>
            <a:spLocks noGrp="1"/>
          </p:cNvSpPr>
          <p:nvPr>
            <p:ph type="sldNum" sz="quarter" idx="12"/>
          </p:nvPr>
        </p:nvSpPr>
        <p:spPr/>
        <p:txBody>
          <a:bodyPr/>
          <a:lstStyle/>
          <a:p>
            <a:fld id="{B6F15528-21DE-4FAA-801E-634DDDAF4B2B}" type="slidenum">
              <a:rPr lang="en-US" smtClean="0"/>
              <a:pPr/>
              <a:t>11</a:t>
            </a:fld>
            <a:endParaRPr lang="en-US"/>
          </a:p>
        </p:txBody>
      </p:sp>
      <p:sp>
        <p:nvSpPr>
          <p:cNvPr id="8" name="TextBox 7">
            <a:extLst>
              <a:ext uri="{FF2B5EF4-FFF2-40B4-BE49-F238E27FC236}">
                <a16:creationId xmlns:a16="http://schemas.microsoft.com/office/drawing/2014/main" id="{B14CE928-7BF7-C197-76FE-757EB186E5D4}"/>
              </a:ext>
            </a:extLst>
          </p:cNvPr>
          <p:cNvSpPr txBox="1"/>
          <p:nvPr/>
        </p:nvSpPr>
        <p:spPr>
          <a:xfrm>
            <a:off x="4114800" y="3059349"/>
            <a:ext cx="914400" cy="914400"/>
          </a:xfrm>
          <a:prstGeom prst="rect">
            <a:avLst/>
          </a:prstGeom>
          <a:noFill/>
        </p:spPr>
        <p:txBody>
          <a:bodyPr wrap="square" rtlCol="0">
            <a:spAutoFit/>
          </a:bodyPr>
          <a:lstStyle/>
          <a:p>
            <a:endParaRPr lang="en-IN" dirty="0"/>
          </a:p>
        </p:txBody>
      </p:sp>
      <p:pic>
        <p:nvPicPr>
          <p:cNvPr id="6" name="Picture 5">
            <a:extLst>
              <a:ext uri="{FF2B5EF4-FFF2-40B4-BE49-F238E27FC236}">
                <a16:creationId xmlns:a16="http://schemas.microsoft.com/office/drawing/2014/main" id="{BC2686FA-DA61-0CB7-1FD7-A90F64999C68}"/>
              </a:ext>
            </a:extLst>
          </p:cNvPr>
          <p:cNvPicPr>
            <a:picLocks noChangeAspect="1"/>
          </p:cNvPicPr>
          <p:nvPr/>
        </p:nvPicPr>
        <p:blipFill>
          <a:blip r:embed="rId2"/>
          <a:srcRect t="819"/>
          <a:stretch>
            <a:fillRect/>
          </a:stretch>
        </p:blipFill>
        <p:spPr>
          <a:xfrm>
            <a:off x="853953" y="856575"/>
            <a:ext cx="8045693" cy="5319948"/>
          </a:xfrm>
          <a:prstGeom prst="rect">
            <a:avLst/>
          </a:prstGeom>
        </p:spPr>
      </p:pic>
    </p:spTree>
    <p:extLst>
      <p:ext uri="{BB962C8B-B14F-4D97-AF65-F5344CB8AC3E}">
        <p14:creationId xmlns:p14="http://schemas.microsoft.com/office/powerpoint/2010/main" val="23550033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F13DD-E7B1-41DB-E442-3B7BEA13E542}"/>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FA6F5C79-907B-FA72-0DD6-F993F8CEA12A}"/>
              </a:ext>
            </a:extLst>
          </p:cNvPr>
          <p:cNvSpPr>
            <a:spLocks noGrp="1"/>
          </p:cNvSpPr>
          <p:nvPr>
            <p:ph type="ftr" sz="quarter" idx="11"/>
          </p:nvPr>
        </p:nvSpPr>
        <p:spPr>
          <a:xfrm>
            <a:off x="1066800" y="6356350"/>
            <a:ext cx="7239000" cy="365125"/>
          </a:xfrm>
        </p:spPr>
        <p:txBody>
          <a:bodyPr/>
          <a:lstStyle/>
          <a:p>
            <a:r>
              <a:rPr lang="en-US" dirty="0"/>
              <a:t>Vishwakarma Institute of Technology, Department of Computer Science of Engineering( Artificial Intelligence)</a:t>
            </a:r>
          </a:p>
        </p:txBody>
      </p:sp>
      <p:sp>
        <p:nvSpPr>
          <p:cNvPr id="3" name="Slide Number Placeholder 2">
            <a:extLst>
              <a:ext uri="{FF2B5EF4-FFF2-40B4-BE49-F238E27FC236}">
                <a16:creationId xmlns:a16="http://schemas.microsoft.com/office/drawing/2014/main" id="{30A5E6F5-E191-7EC0-4E32-5534CE5C04B0}"/>
              </a:ext>
            </a:extLst>
          </p:cNvPr>
          <p:cNvSpPr>
            <a:spLocks noGrp="1"/>
          </p:cNvSpPr>
          <p:nvPr>
            <p:ph type="sldNum" sz="quarter" idx="12"/>
          </p:nvPr>
        </p:nvSpPr>
        <p:spPr/>
        <p:txBody>
          <a:bodyPr/>
          <a:lstStyle/>
          <a:p>
            <a:fld id="{B6F15528-21DE-4FAA-801E-634DDDAF4B2B}" type="slidenum">
              <a:rPr lang="en-US" smtClean="0"/>
              <a:pPr/>
              <a:t>12</a:t>
            </a:fld>
            <a:endParaRPr lang="en-US"/>
          </a:p>
        </p:txBody>
      </p:sp>
      <p:sp>
        <p:nvSpPr>
          <p:cNvPr id="4" name="TextBox 3">
            <a:extLst>
              <a:ext uri="{FF2B5EF4-FFF2-40B4-BE49-F238E27FC236}">
                <a16:creationId xmlns:a16="http://schemas.microsoft.com/office/drawing/2014/main" id="{1E786A60-6F7E-6B50-AD13-F6546BA58C9E}"/>
              </a:ext>
            </a:extLst>
          </p:cNvPr>
          <p:cNvSpPr txBox="1"/>
          <p:nvPr/>
        </p:nvSpPr>
        <p:spPr>
          <a:xfrm>
            <a:off x="2481209" y="942417"/>
            <a:ext cx="4410182" cy="584775"/>
          </a:xfrm>
          <a:prstGeom prst="rect">
            <a:avLst/>
          </a:prstGeom>
          <a:noFill/>
        </p:spPr>
        <p:txBody>
          <a:bodyPr wrap="none" rtlCol="0">
            <a:spAutoFit/>
          </a:bodyPr>
          <a:lstStyle/>
          <a:p>
            <a:r>
              <a:rPr lang="en-IN" sz="3200" b="1" dirty="0">
                <a:solidFill>
                  <a:schemeClr val="tx2">
                    <a:lumMod val="75000"/>
                  </a:schemeClr>
                </a:solidFill>
                <a:latin typeface="Book Antiqua" panose="02040602050305030304" pitchFamily="18" charset="0"/>
                <a:cs typeface="Times New Roman" panose="02020603050405020304" pitchFamily="18" charset="0"/>
              </a:rPr>
              <a:t>What's New &amp; Unique</a:t>
            </a:r>
          </a:p>
        </p:txBody>
      </p:sp>
      <p:sp>
        <p:nvSpPr>
          <p:cNvPr id="6" name="TextBox 5">
            <a:extLst>
              <a:ext uri="{FF2B5EF4-FFF2-40B4-BE49-F238E27FC236}">
                <a16:creationId xmlns:a16="http://schemas.microsoft.com/office/drawing/2014/main" id="{1A703298-0CD5-9D46-CBA4-7560173D06CD}"/>
              </a:ext>
            </a:extLst>
          </p:cNvPr>
          <p:cNvSpPr txBox="1"/>
          <p:nvPr/>
        </p:nvSpPr>
        <p:spPr>
          <a:xfrm>
            <a:off x="1071664" y="1750979"/>
            <a:ext cx="2509736" cy="2548390"/>
          </a:xfrm>
          <a:prstGeom prst="rect">
            <a:avLst/>
          </a:prstGeom>
          <a:noFill/>
        </p:spPr>
        <p:txBody>
          <a:bodyPr wrap="square">
            <a:spAutoFit/>
          </a:bodyPr>
          <a:lstStyle/>
          <a:p>
            <a:pPr>
              <a:lnSpc>
                <a:spcPct val="150000"/>
              </a:lnSpc>
            </a:pPr>
            <a:r>
              <a:rPr lang="en-US" dirty="0">
                <a:latin typeface="Centaur" panose="02030504050205020304" pitchFamily="18" charset="0"/>
              </a:rPr>
              <a:t>Shared Architecture </a:t>
            </a:r>
          </a:p>
          <a:p>
            <a:pPr marL="285750" indent="-285750">
              <a:lnSpc>
                <a:spcPct val="150000"/>
              </a:lnSpc>
              <a:buFont typeface="Arial" panose="020B0604020202020204" pitchFamily="34" charset="0"/>
              <a:buChar char="•"/>
            </a:pPr>
            <a:r>
              <a:rPr lang="en-US" dirty="0">
                <a:latin typeface="Centaur" panose="02030504050205020304" pitchFamily="18" charset="0"/>
              </a:rPr>
              <a:t>Same building, same timeline </a:t>
            </a:r>
          </a:p>
          <a:p>
            <a:pPr marL="285750" indent="-285750">
              <a:lnSpc>
                <a:spcPct val="150000"/>
              </a:lnSpc>
              <a:buFont typeface="Arial" panose="020B0604020202020204" pitchFamily="34" charset="0"/>
              <a:buChar char="•"/>
            </a:pPr>
            <a:r>
              <a:rPr lang="en-US" dirty="0">
                <a:latin typeface="Centaur" panose="02030504050205020304" pitchFamily="18" charset="0"/>
              </a:rPr>
              <a:t>Same geometry for all roles Centralized simulation engine</a:t>
            </a:r>
          </a:p>
        </p:txBody>
      </p:sp>
      <p:sp>
        <p:nvSpPr>
          <p:cNvPr id="5" name="TextBox 4">
            <a:extLst>
              <a:ext uri="{FF2B5EF4-FFF2-40B4-BE49-F238E27FC236}">
                <a16:creationId xmlns:a16="http://schemas.microsoft.com/office/drawing/2014/main" id="{EADBAB45-9986-86D8-08F2-A380DAD60877}"/>
              </a:ext>
            </a:extLst>
          </p:cNvPr>
          <p:cNvSpPr txBox="1"/>
          <p:nvPr/>
        </p:nvSpPr>
        <p:spPr>
          <a:xfrm>
            <a:off x="3660032" y="1750979"/>
            <a:ext cx="2509736" cy="2963888"/>
          </a:xfrm>
          <a:prstGeom prst="rect">
            <a:avLst/>
          </a:prstGeom>
          <a:noFill/>
        </p:spPr>
        <p:txBody>
          <a:bodyPr wrap="square">
            <a:spAutoFit/>
          </a:bodyPr>
          <a:lstStyle/>
          <a:p>
            <a:pPr>
              <a:lnSpc>
                <a:spcPct val="150000"/>
              </a:lnSpc>
            </a:pPr>
            <a:r>
              <a:rPr lang="en-US" dirty="0">
                <a:latin typeface="Centaur" panose="02030504050205020304" pitchFamily="18" charset="0"/>
              </a:rPr>
              <a:t>Dynamic Insights</a:t>
            </a:r>
          </a:p>
          <a:p>
            <a:pPr marL="285750" indent="-285750">
              <a:lnSpc>
                <a:spcPct val="150000"/>
              </a:lnSpc>
              <a:buFont typeface="Arial" panose="020B0604020202020204" pitchFamily="34" charset="0"/>
              <a:buChar char="•"/>
            </a:pPr>
            <a:r>
              <a:rPr lang="en-US" dirty="0">
                <a:latin typeface="Centaur" panose="02030504050205020304" pitchFamily="18" charset="0"/>
              </a:rPr>
              <a:t>Geometry-based (not hardcoded) </a:t>
            </a:r>
          </a:p>
          <a:p>
            <a:pPr marL="285750" indent="-285750">
              <a:lnSpc>
                <a:spcPct val="150000"/>
              </a:lnSpc>
              <a:buFont typeface="Arial" panose="020B0604020202020204" pitchFamily="34" charset="0"/>
              <a:buChar char="•"/>
            </a:pPr>
            <a:r>
              <a:rPr lang="en-US" dirty="0">
                <a:latin typeface="Centaur" panose="02030504050205020304" pitchFamily="18" charset="0"/>
              </a:rPr>
              <a:t>Responds to layout complexity </a:t>
            </a:r>
          </a:p>
          <a:p>
            <a:pPr marL="285750" indent="-285750">
              <a:lnSpc>
                <a:spcPct val="150000"/>
              </a:lnSpc>
              <a:buFont typeface="Arial" panose="020B0604020202020204" pitchFamily="34" charset="0"/>
              <a:buChar char="•"/>
            </a:pPr>
            <a:r>
              <a:rPr lang="en-US" dirty="0">
                <a:latin typeface="Centaur" panose="02030504050205020304" pitchFamily="18" charset="0"/>
              </a:rPr>
              <a:t>Adapts to simulation state</a:t>
            </a:r>
          </a:p>
        </p:txBody>
      </p:sp>
      <p:sp>
        <p:nvSpPr>
          <p:cNvPr id="7" name="TextBox 6">
            <a:extLst>
              <a:ext uri="{FF2B5EF4-FFF2-40B4-BE49-F238E27FC236}">
                <a16:creationId xmlns:a16="http://schemas.microsoft.com/office/drawing/2014/main" id="{02B7840B-04A8-7C91-FFD2-2F4FC8D98318}"/>
              </a:ext>
            </a:extLst>
          </p:cNvPr>
          <p:cNvSpPr txBox="1"/>
          <p:nvPr/>
        </p:nvSpPr>
        <p:spPr>
          <a:xfrm>
            <a:off x="6248400" y="1750979"/>
            <a:ext cx="2509736" cy="2548390"/>
          </a:xfrm>
          <a:prstGeom prst="rect">
            <a:avLst/>
          </a:prstGeom>
          <a:noFill/>
        </p:spPr>
        <p:txBody>
          <a:bodyPr wrap="square">
            <a:spAutoFit/>
          </a:bodyPr>
          <a:lstStyle/>
          <a:p>
            <a:pPr>
              <a:lnSpc>
                <a:spcPct val="150000"/>
              </a:lnSpc>
            </a:pPr>
            <a:r>
              <a:rPr lang="en-US" dirty="0">
                <a:latin typeface="Centaur" panose="02030504050205020304" pitchFamily="18" charset="0"/>
              </a:rPr>
              <a:t>File Integration</a:t>
            </a:r>
          </a:p>
          <a:p>
            <a:pPr marL="285750" indent="-285750">
              <a:lnSpc>
                <a:spcPct val="150000"/>
              </a:lnSpc>
              <a:buFont typeface="Arial" panose="020B0604020202020204" pitchFamily="34" charset="0"/>
              <a:buChar char="•"/>
            </a:pPr>
            <a:r>
              <a:rPr lang="en-US" dirty="0">
                <a:latin typeface="Centaur" panose="02030504050205020304" pitchFamily="18" charset="0"/>
              </a:rPr>
              <a:t>DXF plan upload support</a:t>
            </a:r>
          </a:p>
          <a:p>
            <a:pPr marL="285750" indent="-285750">
              <a:lnSpc>
                <a:spcPct val="150000"/>
              </a:lnSpc>
              <a:buFont typeface="Arial" panose="020B0604020202020204" pitchFamily="34" charset="0"/>
              <a:buChar char="•"/>
            </a:pPr>
            <a:r>
              <a:rPr lang="en-US" dirty="0">
                <a:latin typeface="Centaur" panose="02030504050205020304" pitchFamily="18" charset="0"/>
              </a:rPr>
              <a:t>IFC model import</a:t>
            </a:r>
          </a:p>
          <a:p>
            <a:pPr marL="285750" indent="-285750">
              <a:lnSpc>
                <a:spcPct val="150000"/>
              </a:lnSpc>
              <a:buFont typeface="Arial" panose="020B0604020202020204" pitchFamily="34" charset="0"/>
              <a:buChar char="•"/>
            </a:pPr>
            <a:r>
              <a:rPr lang="en-US" dirty="0">
                <a:latin typeface="Centaur" panose="02030504050205020304" pitchFamily="18" charset="0"/>
              </a:rPr>
              <a:t>Procedural geometry gen.</a:t>
            </a:r>
          </a:p>
        </p:txBody>
      </p:sp>
      <p:sp>
        <p:nvSpPr>
          <p:cNvPr id="8" name="Rectangle: Rounded Corners 7">
            <a:extLst>
              <a:ext uri="{FF2B5EF4-FFF2-40B4-BE49-F238E27FC236}">
                <a16:creationId xmlns:a16="http://schemas.microsoft.com/office/drawing/2014/main" id="{9B6C8793-CC2D-20B3-EB4E-08D52DB53BAE}"/>
              </a:ext>
            </a:extLst>
          </p:cNvPr>
          <p:cNvSpPr/>
          <p:nvPr/>
        </p:nvSpPr>
        <p:spPr>
          <a:xfrm>
            <a:off x="990600" y="1750979"/>
            <a:ext cx="2438400" cy="3125821"/>
          </a:xfrm>
          <a:prstGeom prst="round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Rounded Corners 8">
            <a:extLst>
              <a:ext uri="{FF2B5EF4-FFF2-40B4-BE49-F238E27FC236}">
                <a16:creationId xmlns:a16="http://schemas.microsoft.com/office/drawing/2014/main" id="{673C7B84-9641-37D1-CAF4-2D5D5795991D}"/>
              </a:ext>
            </a:extLst>
          </p:cNvPr>
          <p:cNvSpPr/>
          <p:nvPr/>
        </p:nvSpPr>
        <p:spPr>
          <a:xfrm>
            <a:off x="3581400" y="1750979"/>
            <a:ext cx="2438400" cy="3125821"/>
          </a:xfrm>
          <a:prstGeom prst="round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Rounded Corners 9">
            <a:extLst>
              <a:ext uri="{FF2B5EF4-FFF2-40B4-BE49-F238E27FC236}">
                <a16:creationId xmlns:a16="http://schemas.microsoft.com/office/drawing/2014/main" id="{7741E552-FA00-DFA9-C069-92A669482EB5}"/>
              </a:ext>
            </a:extLst>
          </p:cNvPr>
          <p:cNvSpPr/>
          <p:nvPr/>
        </p:nvSpPr>
        <p:spPr>
          <a:xfrm>
            <a:off x="6197330" y="1750978"/>
            <a:ext cx="2438400" cy="3125821"/>
          </a:xfrm>
          <a:prstGeom prst="round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055604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83E14-A200-A46C-772B-E9D1BBE46174}"/>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C6DBFF11-2936-8773-5643-705472BCB064}"/>
              </a:ext>
            </a:extLst>
          </p:cNvPr>
          <p:cNvSpPr>
            <a:spLocks noGrp="1"/>
          </p:cNvSpPr>
          <p:nvPr>
            <p:ph type="ftr" sz="quarter" idx="11"/>
          </p:nvPr>
        </p:nvSpPr>
        <p:spPr>
          <a:xfrm>
            <a:off x="1066800" y="6356350"/>
            <a:ext cx="7239000" cy="365125"/>
          </a:xfrm>
        </p:spPr>
        <p:txBody>
          <a:bodyPr/>
          <a:lstStyle/>
          <a:p>
            <a:r>
              <a:rPr lang="en-US" dirty="0"/>
              <a:t>Vishwakarma Institute of Technology, Department of Computer Science of Engineering( Artificial Intelligence)</a:t>
            </a:r>
          </a:p>
        </p:txBody>
      </p:sp>
      <p:sp>
        <p:nvSpPr>
          <p:cNvPr id="3" name="Slide Number Placeholder 2">
            <a:extLst>
              <a:ext uri="{FF2B5EF4-FFF2-40B4-BE49-F238E27FC236}">
                <a16:creationId xmlns:a16="http://schemas.microsoft.com/office/drawing/2014/main" id="{E56C64B8-C349-3906-BA22-0981EEE7ACDE}"/>
              </a:ext>
            </a:extLst>
          </p:cNvPr>
          <p:cNvSpPr>
            <a:spLocks noGrp="1"/>
          </p:cNvSpPr>
          <p:nvPr>
            <p:ph type="sldNum" sz="quarter" idx="12"/>
          </p:nvPr>
        </p:nvSpPr>
        <p:spPr/>
        <p:txBody>
          <a:bodyPr/>
          <a:lstStyle/>
          <a:p>
            <a:fld id="{B6F15528-21DE-4FAA-801E-634DDDAF4B2B}" type="slidenum">
              <a:rPr lang="en-US" smtClean="0"/>
              <a:pPr/>
              <a:t>13</a:t>
            </a:fld>
            <a:endParaRPr lang="en-US"/>
          </a:p>
        </p:txBody>
      </p:sp>
      <p:sp>
        <p:nvSpPr>
          <p:cNvPr id="4" name="TextBox 3">
            <a:extLst>
              <a:ext uri="{FF2B5EF4-FFF2-40B4-BE49-F238E27FC236}">
                <a16:creationId xmlns:a16="http://schemas.microsoft.com/office/drawing/2014/main" id="{5ED7101F-892F-5EC4-73A9-9BDF9242000C}"/>
              </a:ext>
            </a:extLst>
          </p:cNvPr>
          <p:cNvSpPr txBox="1"/>
          <p:nvPr/>
        </p:nvSpPr>
        <p:spPr>
          <a:xfrm>
            <a:off x="1402989" y="942417"/>
            <a:ext cx="7100021" cy="584775"/>
          </a:xfrm>
          <a:prstGeom prst="rect">
            <a:avLst/>
          </a:prstGeom>
          <a:noFill/>
        </p:spPr>
        <p:txBody>
          <a:bodyPr wrap="none" rtlCol="0">
            <a:spAutoFit/>
          </a:bodyPr>
          <a:lstStyle/>
          <a:p>
            <a:r>
              <a:rPr lang="en-IN" sz="3200" b="1" dirty="0">
                <a:solidFill>
                  <a:schemeClr val="tx2">
                    <a:lumMod val="75000"/>
                  </a:schemeClr>
                </a:solidFill>
                <a:latin typeface="Book Antiqua" panose="02040602050305030304" pitchFamily="18" charset="0"/>
                <a:cs typeface="Times New Roman" panose="02020603050405020304" pitchFamily="18" charset="0"/>
              </a:rPr>
              <a:t>Key Feature – Role Based Dashboard</a:t>
            </a:r>
          </a:p>
        </p:txBody>
      </p:sp>
      <p:pic>
        <p:nvPicPr>
          <p:cNvPr id="8" name="Picture 7">
            <a:extLst>
              <a:ext uri="{FF2B5EF4-FFF2-40B4-BE49-F238E27FC236}">
                <a16:creationId xmlns:a16="http://schemas.microsoft.com/office/drawing/2014/main" id="{D625C8E7-82AC-9436-4878-753068E4FF17}"/>
              </a:ext>
            </a:extLst>
          </p:cNvPr>
          <p:cNvPicPr>
            <a:picLocks noChangeAspect="1"/>
          </p:cNvPicPr>
          <p:nvPr/>
        </p:nvPicPr>
        <p:blipFill>
          <a:blip r:embed="rId2"/>
          <a:stretch>
            <a:fillRect/>
          </a:stretch>
        </p:blipFill>
        <p:spPr>
          <a:xfrm>
            <a:off x="914400" y="1905000"/>
            <a:ext cx="7952469" cy="4219017"/>
          </a:xfrm>
          <a:prstGeom prst="rect">
            <a:avLst/>
          </a:prstGeom>
        </p:spPr>
      </p:pic>
    </p:spTree>
    <p:extLst>
      <p:ext uri="{BB962C8B-B14F-4D97-AF65-F5344CB8AC3E}">
        <p14:creationId xmlns:p14="http://schemas.microsoft.com/office/powerpoint/2010/main" val="42652743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C6F23-63A9-D390-1425-C8CFFEB6E94E}"/>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A87D1ECC-261B-8E46-E447-1B74B858416F}"/>
              </a:ext>
            </a:extLst>
          </p:cNvPr>
          <p:cNvSpPr>
            <a:spLocks noGrp="1"/>
          </p:cNvSpPr>
          <p:nvPr>
            <p:ph type="ftr" sz="quarter" idx="11"/>
          </p:nvPr>
        </p:nvSpPr>
        <p:spPr>
          <a:xfrm>
            <a:off x="1066800" y="6356350"/>
            <a:ext cx="7239000" cy="365125"/>
          </a:xfrm>
        </p:spPr>
        <p:txBody>
          <a:bodyPr/>
          <a:lstStyle/>
          <a:p>
            <a:r>
              <a:rPr lang="en-US" dirty="0"/>
              <a:t>Vishwakarma Institute of Technology, Department of Computer Science of Engineering( Artificial Intelligence)</a:t>
            </a:r>
          </a:p>
        </p:txBody>
      </p:sp>
      <p:sp>
        <p:nvSpPr>
          <p:cNvPr id="3" name="Slide Number Placeholder 2">
            <a:extLst>
              <a:ext uri="{FF2B5EF4-FFF2-40B4-BE49-F238E27FC236}">
                <a16:creationId xmlns:a16="http://schemas.microsoft.com/office/drawing/2014/main" id="{A0072DD3-D9E8-3A08-6FC4-79BD9FB2F83A}"/>
              </a:ext>
            </a:extLst>
          </p:cNvPr>
          <p:cNvSpPr>
            <a:spLocks noGrp="1"/>
          </p:cNvSpPr>
          <p:nvPr>
            <p:ph type="sldNum" sz="quarter" idx="12"/>
          </p:nvPr>
        </p:nvSpPr>
        <p:spPr/>
        <p:txBody>
          <a:bodyPr/>
          <a:lstStyle/>
          <a:p>
            <a:fld id="{B6F15528-21DE-4FAA-801E-634DDDAF4B2B}" type="slidenum">
              <a:rPr lang="en-US" smtClean="0"/>
              <a:pPr/>
              <a:t>14</a:t>
            </a:fld>
            <a:endParaRPr lang="en-US"/>
          </a:p>
        </p:txBody>
      </p:sp>
      <p:sp>
        <p:nvSpPr>
          <p:cNvPr id="4" name="TextBox 3">
            <a:extLst>
              <a:ext uri="{FF2B5EF4-FFF2-40B4-BE49-F238E27FC236}">
                <a16:creationId xmlns:a16="http://schemas.microsoft.com/office/drawing/2014/main" id="{B1A7EB6B-EBCA-4DCF-3DFD-55AF80F54762}"/>
              </a:ext>
            </a:extLst>
          </p:cNvPr>
          <p:cNvSpPr txBox="1"/>
          <p:nvPr/>
        </p:nvSpPr>
        <p:spPr>
          <a:xfrm>
            <a:off x="1729200" y="924583"/>
            <a:ext cx="5740674" cy="584775"/>
          </a:xfrm>
          <a:prstGeom prst="rect">
            <a:avLst/>
          </a:prstGeom>
          <a:noFill/>
        </p:spPr>
        <p:txBody>
          <a:bodyPr wrap="none" rtlCol="0">
            <a:spAutoFit/>
          </a:bodyPr>
          <a:lstStyle/>
          <a:p>
            <a:r>
              <a:rPr lang="en-IN" sz="3200" b="1" dirty="0">
                <a:solidFill>
                  <a:schemeClr val="tx2">
                    <a:lumMod val="75000"/>
                  </a:schemeClr>
                </a:solidFill>
                <a:latin typeface="Book Antiqua" panose="02040602050305030304" pitchFamily="18" charset="0"/>
                <a:cs typeface="Times New Roman" panose="02020603050405020304" pitchFamily="18" charset="0"/>
              </a:rPr>
              <a:t> Challenges and Future Scope</a:t>
            </a:r>
          </a:p>
        </p:txBody>
      </p:sp>
      <p:sp>
        <p:nvSpPr>
          <p:cNvPr id="6" name="TextBox 5">
            <a:extLst>
              <a:ext uri="{FF2B5EF4-FFF2-40B4-BE49-F238E27FC236}">
                <a16:creationId xmlns:a16="http://schemas.microsoft.com/office/drawing/2014/main" id="{171A433B-CB8E-72DA-3C06-837024D1C4EC}"/>
              </a:ext>
            </a:extLst>
          </p:cNvPr>
          <p:cNvSpPr txBox="1"/>
          <p:nvPr/>
        </p:nvSpPr>
        <p:spPr>
          <a:xfrm>
            <a:off x="1071664" y="1750979"/>
            <a:ext cx="3657600" cy="3796809"/>
          </a:xfrm>
          <a:prstGeom prst="rect">
            <a:avLst/>
          </a:prstGeom>
          <a:noFill/>
        </p:spPr>
        <p:txBody>
          <a:bodyPr wrap="square">
            <a:spAutoFit/>
          </a:bodyPr>
          <a:lstStyle/>
          <a:p>
            <a:pPr>
              <a:lnSpc>
                <a:spcPct val="150000"/>
              </a:lnSpc>
            </a:pPr>
            <a:r>
              <a:rPr lang="en-US" dirty="0">
                <a:latin typeface="Centaur" panose="02030504050205020304" pitchFamily="18" charset="0"/>
              </a:rPr>
              <a:t>Key Challenges  </a:t>
            </a:r>
          </a:p>
          <a:p>
            <a:pPr marL="285750" indent="-285750">
              <a:lnSpc>
                <a:spcPct val="150000"/>
              </a:lnSpc>
              <a:buFont typeface="Arial" panose="020B0604020202020204" pitchFamily="34" charset="0"/>
              <a:buChar char="•"/>
            </a:pPr>
            <a:r>
              <a:rPr lang="en-US" dirty="0">
                <a:latin typeface="Centaur" panose="02030504050205020304" pitchFamily="18" charset="0"/>
              </a:rPr>
              <a:t>Shared state sync across all dashboards </a:t>
            </a:r>
          </a:p>
          <a:p>
            <a:pPr marL="285750" indent="-285750">
              <a:lnSpc>
                <a:spcPct val="150000"/>
              </a:lnSpc>
              <a:buFont typeface="Arial" panose="020B0604020202020204" pitchFamily="34" charset="0"/>
              <a:buChar char="•"/>
            </a:pPr>
            <a:r>
              <a:rPr lang="en-US" dirty="0">
                <a:latin typeface="Centaur" panose="02030504050205020304" pitchFamily="18" charset="0"/>
              </a:rPr>
              <a:t>Enforcing realistic construction sequencing </a:t>
            </a:r>
          </a:p>
          <a:p>
            <a:pPr marL="285750" indent="-285750">
              <a:lnSpc>
                <a:spcPct val="150000"/>
              </a:lnSpc>
              <a:buFont typeface="Arial" panose="020B0604020202020204" pitchFamily="34" charset="0"/>
              <a:buChar char="•"/>
            </a:pPr>
            <a:r>
              <a:rPr lang="en-US" dirty="0">
                <a:latin typeface="Centaur" panose="02030504050205020304" pitchFamily="18" charset="0"/>
              </a:rPr>
              <a:t>DXF → usable procedural geometry pipeline </a:t>
            </a:r>
          </a:p>
          <a:p>
            <a:pPr marL="285750" indent="-285750">
              <a:lnSpc>
                <a:spcPct val="150000"/>
              </a:lnSpc>
              <a:buFont typeface="Arial" panose="020B0604020202020204" pitchFamily="34" charset="0"/>
              <a:buChar char="•"/>
            </a:pPr>
            <a:r>
              <a:rPr lang="en-US" dirty="0">
                <a:latin typeface="Centaur" panose="02030504050205020304" pitchFamily="18" charset="0"/>
              </a:rPr>
              <a:t>Clean role separation with no tool overlay</a:t>
            </a:r>
          </a:p>
        </p:txBody>
      </p:sp>
      <p:sp>
        <p:nvSpPr>
          <p:cNvPr id="5" name="TextBox 4">
            <a:extLst>
              <a:ext uri="{FF2B5EF4-FFF2-40B4-BE49-F238E27FC236}">
                <a16:creationId xmlns:a16="http://schemas.microsoft.com/office/drawing/2014/main" id="{4D72A35A-4648-1766-21C1-9681230DD8AC}"/>
              </a:ext>
            </a:extLst>
          </p:cNvPr>
          <p:cNvSpPr txBox="1"/>
          <p:nvPr/>
        </p:nvSpPr>
        <p:spPr>
          <a:xfrm>
            <a:off x="4953000" y="1752600"/>
            <a:ext cx="3657600" cy="2550314"/>
          </a:xfrm>
          <a:prstGeom prst="rect">
            <a:avLst/>
          </a:prstGeom>
          <a:noFill/>
        </p:spPr>
        <p:txBody>
          <a:bodyPr wrap="square">
            <a:spAutoFit/>
          </a:bodyPr>
          <a:lstStyle/>
          <a:p>
            <a:pPr>
              <a:lnSpc>
                <a:spcPct val="150000"/>
              </a:lnSpc>
            </a:pPr>
            <a:r>
              <a:rPr lang="en-US" dirty="0">
                <a:latin typeface="Centaur" panose="02030504050205020304" pitchFamily="18" charset="0"/>
              </a:rPr>
              <a:t>Future Scope </a:t>
            </a:r>
          </a:p>
          <a:p>
            <a:pPr marL="285750" indent="-285750">
              <a:lnSpc>
                <a:spcPct val="150000"/>
              </a:lnSpc>
              <a:buFont typeface="Arial" panose="020B0604020202020204" pitchFamily="34" charset="0"/>
              <a:buChar char="•"/>
            </a:pPr>
            <a:r>
              <a:rPr lang="en-US" dirty="0">
                <a:latin typeface="Centaur" panose="02030504050205020304" pitchFamily="18" charset="0"/>
              </a:rPr>
              <a:t>Render (BE) Real BIM integration &amp; digital twin systems </a:t>
            </a:r>
          </a:p>
          <a:p>
            <a:pPr marL="285750" indent="-285750">
              <a:lnSpc>
                <a:spcPct val="150000"/>
              </a:lnSpc>
              <a:buFont typeface="Arial" panose="020B0604020202020204" pitchFamily="34" charset="0"/>
              <a:buChar char="•"/>
            </a:pPr>
            <a:r>
              <a:rPr lang="en-US" dirty="0">
                <a:latin typeface="Centaur" panose="02030504050205020304" pitchFamily="18" charset="0"/>
              </a:rPr>
              <a:t>AI-powered scheduling </a:t>
            </a:r>
            <a:r>
              <a:rPr lang="en-US" dirty="0" err="1">
                <a:latin typeface="Centaur" panose="02030504050205020304" pitchFamily="18" charset="0"/>
              </a:rPr>
              <a:t>optimisation</a:t>
            </a:r>
            <a:r>
              <a:rPr lang="en-US" dirty="0">
                <a:latin typeface="Centaur" panose="02030504050205020304" pitchFamily="18" charset="0"/>
              </a:rPr>
              <a:t> AR/VR walkthroughs &amp; IoT sensors </a:t>
            </a:r>
          </a:p>
          <a:p>
            <a:pPr marL="285750" indent="-285750">
              <a:lnSpc>
                <a:spcPct val="150000"/>
              </a:lnSpc>
              <a:buFont typeface="Arial" panose="020B0604020202020204" pitchFamily="34" charset="0"/>
              <a:buChar char="•"/>
            </a:pPr>
            <a:r>
              <a:rPr lang="en-US" dirty="0">
                <a:latin typeface="Centaur" panose="02030504050205020304" pitchFamily="18" charset="0"/>
              </a:rPr>
              <a:t>Real-time cloud collaboration </a:t>
            </a:r>
          </a:p>
        </p:txBody>
      </p:sp>
    </p:spTree>
    <p:extLst>
      <p:ext uri="{BB962C8B-B14F-4D97-AF65-F5344CB8AC3E}">
        <p14:creationId xmlns:p14="http://schemas.microsoft.com/office/powerpoint/2010/main" val="8554920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6C0DCFC-7811-63A7-9C71-273708E9E044}"/>
              </a:ext>
            </a:extLst>
          </p:cNvPr>
          <p:cNvSpPr>
            <a:spLocks noGrp="1"/>
          </p:cNvSpPr>
          <p:nvPr>
            <p:ph type="ftr" sz="quarter" idx="11"/>
          </p:nvPr>
        </p:nvSpPr>
        <p:spPr>
          <a:xfrm>
            <a:off x="1447800" y="6356350"/>
            <a:ext cx="6934200" cy="365125"/>
          </a:xfrm>
        </p:spPr>
        <p:txBody>
          <a:bodyPr/>
          <a:lstStyle/>
          <a:p>
            <a:r>
              <a:rPr lang="en-US" dirty="0"/>
              <a:t>Vishwakarma Institute of Technology, Department of Computer Science of Engineering( Artificial Intelligence)</a:t>
            </a:r>
          </a:p>
        </p:txBody>
      </p:sp>
      <p:sp>
        <p:nvSpPr>
          <p:cNvPr id="3" name="Slide Number Placeholder 2">
            <a:extLst>
              <a:ext uri="{FF2B5EF4-FFF2-40B4-BE49-F238E27FC236}">
                <a16:creationId xmlns:a16="http://schemas.microsoft.com/office/drawing/2014/main" id="{FE752579-4270-A67D-72BD-4EB04E4263F0}"/>
              </a:ext>
            </a:extLst>
          </p:cNvPr>
          <p:cNvSpPr>
            <a:spLocks noGrp="1"/>
          </p:cNvSpPr>
          <p:nvPr>
            <p:ph type="sldNum" sz="quarter" idx="12"/>
          </p:nvPr>
        </p:nvSpPr>
        <p:spPr/>
        <p:txBody>
          <a:bodyPr/>
          <a:lstStyle/>
          <a:p>
            <a:fld id="{B6F15528-21DE-4FAA-801E-634DDDAF4B2B}" type="slidenum">
              <a:rPr lang="en-US" smtClean="0"/>
              <a:pPr/>
              <a:t>15</a:t>
            </a:fld>
            <a:endParaRPr lang="en-US"/>
          </a:p>
        </p:txBody>
      </p:sp>
      <p:sp>
        <p:nvSpPr>
          <p:cNvPr id="4" name="TextBox 3">
            <a:extLst>
              <a:ext uri="{FF2B5EF4-FFF2-40B4-BE49-F238E27FC236}">
                <a16:creationId xmlns:a16="http://schemas.microsoft.com/office/drawing/2014/main" id="{340B5F41-77FC-7C62-0AC6-6BBC78CFF41A}"/>
              </a:ext>
            </a:extLst>
          </p:cNvPr>
          <p:cNvSpPr txBox="1"/>
          <p:nvPr/>
        </p:nvSpPr>
        <p:spPr>
          <a:xfrm>
            <a:off x="3409662" y="838200"/>
            <a:ext cx="2324675" cy="861774"/>
          </a:xfrm>
          <a:prstGeom prst="rect">
            <a:avLst/>
          </a:prstGeom>
          <a:noFill/>
        </p:spPr>
        <p:txBody>
          <a:bodyPr wrap="none" rtlCol="0">
            <a:spAutoFit/>
          </a:bodyPr>
          <a:lstStyle/>
          <a:p>
            <a:r>
              <a:rPr lang="en-US" sz="3200" b="1" dirty="0">
                <a:solidFill>
                  <a:schemeClr val="tx2">
                    <a:lumMod val="75000"/>
                  </a:schemeClr>
                </a:solidFill>
                <a:latin typeface="Book Antiqua" panose="02040602050305030304" pitchFamily="18" charset="0"/>
                <a:cs typeface="Times New Roman" panose="02020603050405020304" pitchFamily="18" charset="0"/>
                <a:sym typeface="Canva Sans Bold"/>
              </a:rPr>
              <a:t>Conclusion</a:t>
            </a:r>
          </a:p>
          <a:p>
            <a:endParaRPr lang="en-IN" dirty="0"/>
          </a:p>
        </p:txBody>
      </p:sp>
      <p:sp>
        <p:nvSpPr>
          <p:cNvPr id="6" name="TextBox 5">
            <a:extLst>
              <a:ext uri="{FF2B5EF4-FFF2-40B4-BE49-F238E27FC236}">
                <a16:creationId xmlns:a16="http://schemas.microsoft.com/office/drawing/2014/main" id="{922D1B29-DD21-20A5-57D0-AD873A1DA114}"/>
              </a:ext>
            </a:extLst>
          </p:cNvPr>
          <p:cNvSpPr txBox="1"/>
          <p:nvPr/>
        </p:nvSpPr>
        <p:spPr>
          <a:xfrm>
            <a:off x="990600" y="1662685"/>
            <a:ext cx="7696200" cy="4212307"/>
          </a:xfrm>
          <a:prstGeom prst="rect">
            <a:avLst/>
          </a:prstGeom>
          <a:noFill/>
        </p:spPr>
        <p:txBody>
          <a:bodyPr wrap="square">
            <a:spAutoFit/>
          </a:bodyPr>
          <a:lstStyle/>
          <a:p>
            <a:pPr algn="just">
              <a:lnSpc>
                <a:spcPct val="150000"/>
              </a:lnSpc>
            </a:pPr>
            <a:r>
              <a:rPr lang="en-US" dirty="0" err="1">
                <a:latin typeface="Centaur" panose="02030504050205020304" pitchFamily="18" charset="0"/>
              </a:rPr>
              <a:t>BuildSim</a:t>
            </a:r>
            <a:r>
              <a:rPr lang="en-US" dirty="0">
                <a:latin typeface="Centaur" panose="02030504050205020304" pitchFamily="18" charset="0"/>
              </a:rPr>
              <a:t> demonstrates the effectiveness of a role-based construction simulation platform in supporting planning, design evaluation, structural analysis, and project management within a single system. By integrating stakeholder-specific dashboards with interactive visualization and simulation capabilities, the platform enables users to analyze project conditions, assess alternatives, and understand the impact of decisions before implementation. The project successfully shifts the focus from static monitoring to simulation-driven decision support, improving collaboration and planning efficiency. With future enhancements such as advanced BIM integration and more sophisticated simulations, </a:t>
            </a:r>
            <a:r>
              <a:rPr lang="en-US" dirty="0" err="1">
                <a:latin typeface="Centaur" panose="02030504050205020304" pitchFamily="18" charset="0"/>
              </a:rPr>
              <a:t>BuildSim</a:t>
            </a:r>
            <a:r>
              <a:rPr lang="en-US" dirty="0">
                <a:latin typeface="Centaur" panose="02030504050205020304" pitchFamily="18" charset="0"/>
              </a:rPr>
              <a:t> has the potential to become a comprehensive tool for modern construction planning and management.</a:t>
            </a:r>
          </a:p>
        </p:txBody>
      </p:sp>
    </p:spTree>
    <p:extLst>
      <p:ext uri="{BB962C8B-B14F-4D97-AF65-F5344CB8AC3E}">
        <p14:creationId xmlns:p14="http://schemas.microsoft.com/office/powerpoint/2010/main" val="41659912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035AE4D-D6A3-ED9D-A08C-97E72B5A355B}"/>
              </a:ext>
            </a:extLst>
          </p:cNvPr>
          <p:cNvSpPr>
            <a:spLocks noGrp="1"/>
          </p:cNvSpPr>
          <p:nvPr>
            <p:ph type="ftr" sz="quarter" idx="11"/>
          </p:nvPr>
        </p:nvSpPr>
        <p:spPr>
          <a:xfrm>
            <a:off x="1219200" y="6356350"/>
            <a:ext cx="7162800" cy="365125"/>
          </a:xfrm>
        </p:spPr>
        <p:txBody>
          <a:bodyPr/>
          <a:lstStyle/>
          <a:p>
            <a:r>
              <a:rPr lang="en-US" dirty="0"/>
              <a:t>Vishwakarma Institute of Technology, Department of Computer Science of Engineering( Artificial Intelligence)</a:t>
            </a:r>
          </a:p>
        </p:txBody>
      </p:sp>
      <p:sp>
        <p:nvSpPr>
          <p:cNvPr id="3" name="Slide Number Placeholder 2">
            <a:extLst>
              <a:ext uri="{FF2B5EF4-FFF2-40B4-BE49-F238E27FC236}">
                <a16:creationId xmlns:a16="http://schemas.microsoft.com/office/drawing/2014/main" id="{7B4E694D-86B4-A6F1-4507-78F711170A67}"/>
              </a:ext>
            </a:extLst>
          </p:cNvPr>
          <p:cNvSpPr>
            <a:spLocks noGrp="1"/>
          </p:cNvSpPr>
          <p:nvPr>
            <p:ph type="sldNum" sz="quarter" idx="12"/>
          </p:nvPr>
        </p:nvSpPr>
        <p:spPr/>
        <p:txBody>
          <a:bodyPr/>
          <a:lstStyle/>
          <a:p>
            <a:fld id="{B6F15528-21DE-4FAA-801E-634DDDAF4B2B}" type="slidenum">
              <a:rPr lang="en-US" smtClean="0"/>
              <a:pPr/>
              <a:t>16</a:t>
            </a:fld>
            <a:endParaRPr lang="en-US"/>
          </a:p>
        </p:txBody>
      </p:sp>
      <p:sp>
        <p:nvSpPr>
          <p:cNvPr id="4" name="TextBox 3">
            <a:extLst>
              <a:ext uri="{FF2B5EF4-FFF2-40B4-BE49-F238E27FC236}">
                <a16:creationId xmlns:a16="http://schemas.microsoft.com/office/drawing/2014/main" id="{852D0E0F-BEC5-435F-2818-2FAE26F42290}"/>
              </a:ext>
            </a:extLst>
          </p:cNvPr>
          <p:cNvSpPr txBox="1"/>
          <p:nvPr/>
        </p:nvSpPr>
        <p:spPr>
          <a:xfrm>
            <a:off x="3505200" y="863025"/>
            <a:ext cx="2238113" cy="584775"/>
          </a:xfrm>
          <a:prstGeom prst="rect">
            <a:avLst/>
          </a:prstGeom>
          <a:noFill/>
        </p:spPr>
        <p:txBody>
          <a:bodyPr wrap="none" rtlCol="0">
            <a:spAutoFit/>
          </a:bodyPr>
          <a:lstStyle/>
          <a:p>
            <a:r>
              <a:rPr lang="en-US" sz="3200" b="1" dirty="0">
                <a:solidFill>
                  <a:schemeClr val="tx2">
                    <a:lumMod val="75000"/>
                  </a:schemeClr>
                </a:solidFill>
                <a:latin typeface="Book Antiqua" panose="02040602050305030304" pitchFamily="18" charset="0"/>
                <a:cs typeface="Times New Roman" panose="02020603050405020304" pitchFamily="18" charset="0"/>
                <a:sym typeface="Canva Sans Bold"/>
              </a:rPr>
              <a:t>References</a:t>
            </a:r>
            <a:endParaRPr lang="en-IN" sz="3200" b="1" dirty="0">
              <a:solidFill>
                <a:schemeClr val="tx2">
                  <a:lumMod val="75000"/>
                </a:schemeClr>
              </a:solidFill>
              <a:latin typeface="Book Antiqua" panose="0204060205030503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8723A0B-5821-0513-A1F5-58FC44EC152D}"/>
              </a:ext>
            </a:extLst>
          </p:cNvPr>
          <p:cNvSpPr txBox="1"/>
          <p:nvPr/>
        </p:nvSpPr>
        <p:spPr>
          <a:xfrm>
            <a:off x="805813" y="1659346"/>
            <a:ext cx="7989574" cy="4462760"/>
          </a:xfrm>
          <a:prstGeom prst="rect">
            <a:avLst/>
          </a:prstGeom>
          <a:noFill/>
        </p:spPr>
        <p:txBody>
          <a:bodyPr wrap="square" rtlCol="0">
            <a:spAutoFit/>
          </a:bodyPr>
          <a:lstStyle/>
          <a:p>
            <a:pPr marL="342900" lvl="0" indent="-342900" algn="just">
              <a:spcBef>
                <a:spcPts val="600"/>
              </a:spcBef>
              <a:spcAft>
                <a:spcPts val="600"/>
              </a:spcAft>
              <a:buFont typeface="+mj-lt"/>
              <a:buAutoNum type="arabicPeriod"/>
            </a:pPr>
            <a:r>
              <a:rPr lang="en-US" sz="1600" dirty="0">
                <a:latin typeface="Centaur" panose="02030504050205020304" pitchFamily="18" charset="0"/>
                <a:sym typeface="Aileron Ultra-Bold"/>
              </a:rPr>
              <a:t>O. </a:t>
            </a:r>
            <a:r>
              <a:rPr lang="en-US" sz="1600" dirty="0" err="1">
                <a:latin typeface="Centaur" panose="02030504050205020304" pitchFamily="18" charset="0"/>
                <a:sym typeface="Aileron Ultra-Bold"/>
              </a:rPr>
              <a:t>Egwim</a:t>
            </a:r>
            <a:r>
              <a:rPr lang="en-US" sz="1600" dirty="0">
                <a:latin typeface="Centaur" panose="02030504050205020304" pitchFamily="18" charset="0"/>
                <a:sym typeface="Aileron Ultra-Bold"/>
              </a:rPr>
              <a:t>, et al., “Machine learning models for predicting construction project delays,” J. Constr. Eng. Manage., vol. 147, no. 3, 2021, pp. 1–12.</a:t>
            </a:r>
          </a:p>
          <a:p>
            <a:pPr marL="342900" lvl="0" indent="-342900" algn="just">
              <a:spcBef>
                <a:spcPts val="600"/>
              </a:spcBef>
              <a:spcAft>
                <a:spcPts val="600"/>
              </a:spcAft>
              <a:buFont typeface="+mj-lt"/>
              <a:buAutoNum type="arabicPeriod"/>
            </a:pPr>
            <a:r>
              <a:rPr lang="en-US" sz="1600" dirty="0">
                <a:latin typeface="Centaur" panose="02030504050205020304" pitchFamily="18" charset="0"/>
                <a:sym typeface="Aileron Ultra-Bold"/>
              </a:rPr>
              <a:t>J. Kropp, et al., “A framework for automated delay prediction using BIM-based construction simulation,” Proc. Int. Conf. </a:t>
            </a:r>
            <a:r>
              <a:rPr lang="en-US" sz="1600" dirty="0" err="1">
                <a:latin typeface="Centaur" panose="02030504050205020304" pitchFamily="18" charset="0"/>
                <a:sym typeface="Aileron Ultra-Bold"/>
              </a:rPr>
              <a:t>Comput</a:t>
            </a:r>
            <a:r>
              <a:rPr lang="en-US" sz="1600" dirty="0">
                <a:latin typeface="Centaur" panose="02030504050205020304" pitchFamily="18" charset="0"/>
                <a:sym typeface="Aileron Ultra-Bold"/>
              </a:rPr>
              <a:t>. Civ. Build. Eng., 2019, pp. 210–217.</a:t>
            </a:r>
          </a:p>
          <a:p>
            <a:pPr marL="342900" lvl="0" indent="-342900" algn="just">
              <a:spcBef>
                <a:spcPts val="600"/>
              </a:spcBef>
              <a:spcAft>
                <a:spcPts val="600"/>
              </a:spcAft>
              <a:buFont typeface="+mj-lt"/>
              <a:buAutoNum type="arabicPeriod"/>
            </a:pPr>
            <a:r>
              <a:rPr lang="en-US" sz="1600" dirty="0">
                <a:latin typeface="Centaur" panose="02030504050205020304" pitchFamily="18" charset="0"/>
                <a:sym typeface="Aileron Ultra-Bold"/>
              </a:rPr>
              <a:t>A. Shehadeh, et al., “Enhanced clash detection in building information modeling using computational techniques,” Automation in Construction, vol. 158, 2024, pp. 105–118.</a:t>
            </a:r>
          </a:p>
          <a:p>
            <a:pPr marL="342900" lvl="0" indent="-342900" algn="just">
              <a:spcBef>
                <a:spcPts val="600"/>
              </a:spcBef>
              <a:spcAft>
                <a:spcPts val="600"/>
              </a:spcAft>
              <a:buFont typeface="+mj-lt"/>
              <a:buAutoNum type="arabicPeriod"/>
            </a:pPr>
            <a:r>
              <a:rPr lang="en-US" sz="1600" dirty="0">
                <a:latin typeface="Centaur" panose="02030504050205020304" pitchFamily="18" charset="0"/>
                <a:sym typeface="Aileron Ultra-Bold"/>
              </a:rPr>
              <a:t>S. Ahmed, et al., “Impact of building information modeling on construction project delays and cost overruns,” J. Constr. Manage., vol. 136, no. 4, 2020, pp. 331–340.</a:t>
            </a:r>
          </a:p>
          <a:p>
            <a:pPr marL="342900" lvl="0" indent="-342900" algn="just">
              <a:spcBef>
                <a:spcPts val="600"/>
              </a:spcBef>
              <a:spcAft>
                <a:spcPts val="600"/>
              </a:spcAft>
              <a:buFont typeface="+mj-lt"/>
              <a:buAutoNum type="arabicPeriod"/>
            </a:pPr>
            <a:r>
              <a:rPr lang="en-US" sz="1600" dirty="0">
                <a:latin typeface="Centaur" panose="02030504050205020304" pitchFamily="18" charset="0"/>
                <a:sym typeface="Aileron Ultra-Bold"/>
              </a:rPr>
              <a:t>M. Abanda and L. Byers, “An investigation of the impact of building information modeling on construction project performance,” J. Eng. Des. Technol., vol. 14, no. 4, 2016, pp. 929–950.</a:t>
            </a:r>
          </a:p>
          <a:p>
            <a:pPr marL="342900" lvl="0" indent="-342900" algn="just">
              <a:spcBef>
                <a:spcPts val="600"/>
              </a:spcBef>
              <a:spcAft>
                <a:spcPts val="600"/>
              </a:spcAft>
              <a:buFont typeface="+mj-lt"/>
              <a:buAutoNum type="arabicPeriod"/>
            </a:pPr>
            <a:r>
              <a:rPr lang="en-US" sz="1600" dirty="0">
                <a:latin typeface="Centaur" panose="02030504050205020304" pitchFamily="18" charset="0"/>
                <a:sym typeface="Aileron Ultra-Bold"/>
              </a:rPr>
              <a:t>X. Wang, et al., “Building information modeling-based 4D simulation for construction planning and scheduling,” Automation in Construction, vol. 85, 2018, pp. 10–23.</a:t>
            </a:r>
          </a:p>
          <a:p>
            <a:pPr marL="342900" lvl="0" indent="-342900" algn="just">
              <a:spcBef>
                <a:spcPts val="600"/>
              </a:spcBef>
              <a:spcAft>
                <a:spcPts val="600"/>
              </a:spcAft>
              <a:buFont typeface="+mj-lt"/>
              <a:buAutoNum type="arabicPeriod"/>
            </a:pPr>
            <a:r>
              <a:rPr lang="en-US" sz="1600" dirty="0">
                <a:latin typeface="Centaur" panose="02030504050205020304" pitchFamily="18" charset="0"/>
                <a:sym typeface="Aileron Ultra-Bold"/>
              </a:rPr>
              <a:t>S. Chou, et al., “Predicting construction project success using machine learning algorithms,” Expert Systems with Applications, vol. 48, 2016, pp. 124–132.</a:t>
            </a:r>
            <a:endParaRPr lang="en-US" sz="2400" dirty="0">
              <a:latin typeface="Centaur" panose="02030504050205020304" pitchFamily="18" charset="0"/>
              <a:sym typeface="Aileron Ultra-Bold"/>
            </a:endParaRPr>
          </a:p>
        </p:txBody>
      </p:sp>
    </p:spTree>
    <p:extLst>
      <p:ext uri="{BB962C8B-B14F-4D97-AF65-F5344CB8AC3E}">
        <p14:creationId xmlns:p14="http://schemas.microsoft.com/office/powerpoint/2010/main" val="811365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View</Template>
  <TotalTime>11892</TotalTime>
  <Words>1418</Words>
  <Application>Microsoft Office PowerPoint</Application>
  <PresentationFormat>On-screen Show (4:3)</PresentationFormat>
  <Paragraphs>149</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Book Antiqua</vt:lpstr>
      <vt:lpstr>Calibri</vt:lpstr>
      <vt:lpstr>Centaur</vt:lpstr>
      <vt:lpstr>Poppins Bold</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VIT,PUNE-37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MRC Meet 2016</dc:title>
  <dc:subject>MRC Meet</dc:subject>
  <dc:creator>Ashutosh</dc:creator>
  <cp:lastModifiedBy>Saachi Laturiya</cp:lastModifiedBy>
  <cp:revision>1244</cp:revision>
  <dcterms:created xsi:type="dcterms:W3CDTF">2006-08-16T00:00:00Z</dcterms:created>
  <dcterms:modified xsi:type="dcterms:W3CDTF">2026-05-23T01:54:04Z</dcterms:modified>
</cp:coreProperties>
</file>